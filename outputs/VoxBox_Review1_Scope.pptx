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6" d="100"/>
          <a:sy n="86" d="100"/>
        </p:scale>
        <p:origin x="8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503015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30-second pitch. Say the words 'evidence preservation' early — it is the design principle that ties the whole project together.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to 30 seconds. The third card is the one that motivates the whole design.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you only get one sentence across in the whole review, make it the design principle at the bottom.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the review is marked on. Say: I scoped it to one student, one device, one lecture at a time — that let me go deep on evidence handling and cost control instead of shallow on collaboration.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this left to right, audio lane first, then the vision lane, then the merge. The two things to point at: the change filter, because it is where the cost saving comes from, and the note builder, because append-only is what keeps the evidence intact.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asked why not call the AI directly from the app: the key would be extractable, and all the prompt and schema logic would have to be ported into Kotlin.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answer to 'is it just a wrapper'. The filter is entirely mine, runs on-device, and is the single biggest reason running cost is small. The settle step came directly from a classroom trial: the teacher moving was triggering uploads. Five unit tests cover it, including a person walking across the board and a projector slide change, which must be treated differently.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Optimistic concurrency on the delta: Room commits only if the revision still matches, rejects blank erasure, and treats an identical replay as idempotent.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they ask about model choice: models are picked per role by measurement against my own contracts, and are swappable by configuration. Tell the timeout story from the real-lecture slide if it comes up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They will ask this. Never say 'it learns the teacher's voice'. True identity needs voice embeddings, enrolment and consent — that is named as future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asked for an accuracy figure: I have not published one because I do not yet have a fixed labelled corpus and a scorer. Quoting a number off a few runs would be misleading. That is the next phase.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this out loud rather than hiding it. A working test-and-fix loop is worth more at review 1 than a demo that happens to go well. Two of these are the strongest answers you have: the timeout shows you treat latency as a correctness property, and the deployment gap shows you check the running system rather than assuming a commit is a release.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measured evaluation. Admitting that accuracy is unmeasured, and having a concrete plan, is the strongest possible answer at a scope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118 tests = 88 Android + 30 backend. If they ask the hardest part: the failure paths, not the happy path — making sure a network failure or a malformed model response never loses captured speech.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1371600"/>
            <a:ext cx="4754880" cy="4754880"/>
          </a:xfrm>
          <a:prstGeom prst="ellipse">
            <a:avLst/>
          </a:prstGeom>
          <a:solidFill>
            <a:srgbClr val="2E3F86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881360" y="4206240"/>
            <a:ext cx="2377440" cy="2377440"/>
          </a:xfrm>
          <a:prstGeom prst="ellipse">
            <a:avLst/>
          </a:prstGeom>
          <a:solidFill>
            <a:srgbClr val="2E3F86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87452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VoxBox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566928" y="288036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a live lecture into a structured note — without losing what was actually said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66928" y="397764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A33D"/>
                </a:solidFill>
                <a:latin typeface="Calibri" pitchFamily="34" charset="0"/>
                <a:cs typeface="Calibri" pitchFamily="34" charset="-120"/>
              </a:rPr>
              <a:t>Thimmaiah K </a:t>
            </a:r>
            <a:r>
              <a:rPr lang="en-US" sz="1400" b="1" dirty="0" err="1">
                <a:solidFill>
                  <a:srgbClr val="E8A33D"/>
                </a:solidFill>
                <a:latin typeface="Calibri" pitchFamily="34" charset="0"/>
                <a:cs typeface="Calibri" pitchFamily="34" charset="-120"/>
              </a:rPr>
              <a:t>K</a:t>
            </a:r>
            <a:r>
              <a:rPr lang="en-US" sz="1400" b="1" dirty="0">
                <a:solidFill>
                  <a:srgbClr val="E8A33D"/>
                </a:solidFill>
                <a:latin typeface="Calibri" pitchFamily="34" charset="0"/>
                <a:cs typeface="Calibri" pitchFamily="34" charset="-120"/>
              </a:rPr>
              <a:t> 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66928" y="4370832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· Kotlin · Jetpack Compose · Room · CameraX · Node proxy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00">
        <p:fade thruBlk="1"/>
      </p:transition>
    </mc:Choice>
    <mc:Fallback xmlns="">
      <p:transition spd="med"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repeatCount="30000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875E-6 2.22222E-6 C 0.01797 0.01389 0.03203 0.03403 0.028 0.05 C 0.02396 0.06597 0.00404 0.05995 -0.01094 0.04791 C -0.02604 0.03611 -0.02005 0.01296 -1.875E-6 2.22222E-6 Z " pathEditMode="relative" rAng="0" ptsTypes="AAAA">
                                      <p:cBhvr>
                                        <p:cTn id="6" dur="1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56" y="2963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repeatCount="300000" accel="50000" decel="5000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Motion origin="layout" path="M 0 0 C -0.022 0.016 -0.038 0.030 -0.031 0.048 C -0.024 0.066 -0.002 0.062 0.014 0.049 C 0.030 0.036 0.021 0.014 0 0 Z E" pathEditMode="relative" ptsTypes="">
                                      <p:cBhvr>
                                        <p:cTn id="8" dur="1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-1554480"/>
            <a:ext cx="3566160" cy="3566160"/>
          </a:xfrm>
          <a:prstGeom prst="ellipse">
            <a:avLst/>
          </a:prstGeom>
          <a:solidFill>
            <a:srgbClr val="C7D8F2">
              <a:alpha val="3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5029200"/>
            <a:ext cx="2834640" cy="2834640"/>
          </a:xfrm>
          <a:prstGeom prst="ellipse">
            <a:avLst/>
          </a:prstGeom>
          <a:solidFill>
            <a:srgbClr val="C7D8F2">
              <a:alpha val="3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384048"/>
            <a:ext cx="110550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66928" y="1060704"/>
            <a:ext cx="110550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student actually loses during a lecture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66928" y="1645920"/>
            <a:ext cx="6766560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59536" y="2075688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859536" y="20756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481328" y="1956816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means not listening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481328" y="2340864"/>
            <a:ext cx="5669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Note-taking competes with understanding. You get one or the other.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66928" y="3127248"/>
            <a:ext cx="6766560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59536" y="3557016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859536" y="35570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481328" y="3438144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board holds the hard parts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481328" y="3822192"/>
            <a:ext cx="5669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Formulas and diagrams live on the board — audio-only tools miss all of it.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66928" y="4608576"/>
            <a:ext cx="6766560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9536" y="5038344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859536" y="50383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481328" y="4919472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Recordings are not notes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481328" y="5303520"/>
            <a:ext cx="5669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50-minute audio file is not revisable. Nobody re-listens before an exam.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726680" y="1645920"/>
            <a:ext cx="3886200" cy="4261104"/>
          </a:xfrm>
          <a:prstGeom prst="roundRect">
            <a:avLst>
              <a:gd name="adj" fmla="val 2118"/>
            </a:avLst>
          </a:prstGeom>
          <a:solidFill>
            <a:srgbClr val="1E2761"/>
          </a:solidFill>
          <a:ln w="12700">
            <a:solidFill>
              <a:srgbClr val="E2E7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46720" y="2286000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 the note has to be</a:t>
            </a:r>
            <a:endParaRPr lang="en-US" sz="2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while the lecture</a:t>
            </a:r>
            <a:endParaRPr lang="en-US" sz="2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still happening.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8046720" y="4343400"/>
            <a:ext cx="32918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…and it has to keep the raw evidence, so a wrong summary can never quietly replace what was taught.</a:t>
            </a:r>
            <a:endParaRPr lang="en-US" sz="125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00">
        <p:fade thruBlk="1"/>
      </p:transition>
    </mc:Choice>
    <mc:Fallback xmlns="">
      <p:transition spd="med"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repeatCount="30000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18 0.014 0.032 0.034 0.028 0.050 C 0.024 0.066 0.004 0.060 -0.011 0.048 C -0.026 0.036 -0.020 0.013 0 0 Z E" pathEditMode="relative" ptsTypes="">
                                      <p:cBhvr>
                                        <p:cTn id="6" dur="7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repeatCount="300000" accel="50000" decel="5000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Motion origin="layout" path="M 0 0 C -0.022 0.016 -0.038 0.030 -0.031 0.048 C -0.024 0.066 -0.002 0.062 0.014 0.049 C 0.030 0.036 0.021 0.014 0 0 Z E" pathEditMode="relative" ptsTypes="">
                                      <p:cBhvr>
                                        <p:cTn id="8" dur="7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280160"/>
            <a:ext cx="3108960" cy="3108960"/>
          </a:xfrm>
          <a:prstGeom prst="ellipse">
            <a:avLst/>
          </a:prstGeom>
          <a:solidFill>
            <a:srgbClr val="C7D8F2">
              <a:alpha val="3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754880"/>
            <a:ext cx="3291840" cy="3291840"/>
          </a:xfrm>
          <a:prstGeom prst="ellipse">
            <a:avLst/>
          </a:prstGeom>
          <a:solidFill>
            <a:srgbClr val="C7D8F2">
              <a:alpha val="3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384048"/>
            <a:ext cx="110550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VoxBox does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66928" y="1060704"/>
            <a:ext cx="110550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foreground session becomes one living Markdown note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66928" y="1645920"/>
            <a:ext cx="3493008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901952"/>
            <a:ext cx="365760" cy="36576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9019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44168" y="1947672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kern="0" spc="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2432304"/>
            <a:ext cx="29992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audio in 20-second chunks, transcribed with per-chunk speaker labels.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297680" y="1645920"/>
            <a:ext cx="3493008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53712" y="1901952"/>
            <a:ext cx="365760" cy="36576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3" name="Text 11"/>
          <p:cNvSpPr/>
          <p:nvPr/>
        </p:nvSpPr>
        <p:spPr>
          <a:xfrm>
            <a:off x="4553712" y="19019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74920" y="1947672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kern="0" spc="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53712" y="2432304"/>
            <a:ext cx="29992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samples the board. Unchanged frames are discarded on the phone — before any AI call.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028432" y="1645920"/>
            <a:ext cx="3493008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84464" y="1901952"/>
            <a:ext cx="365760" cy="36576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8" name="Text 16"/>
          <p:cNvSpPr/>
          <p:nvPr/>
        </p:nvSpPr>
        <p:spPr>
          <a:xfrm>
            <a:off x="8284464" y="19019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805672" y="1947672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kern="0" spc="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284464" y="2432304"/>
            <a:ext cx="29992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note grows during the lecture. Disagreements become review flags, never silent edits.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66928" y="3886200"/>
            <a:ext cx="11055096" cy="1828800"/>
          </a:xfrm>
          <a:prstGeom prst="roundRect">
            <a:avLst>
              <a:gd name="adj" fmla="val 4500"/>
            </a:avLst>
          </a:prstGeom>
          <a:solidFill>
            <a:srgbClr val="1E2761"/>
          </a:solidFill>
          <a:ln w="12700">
            <a:solidFill>
              <a:srgbClr val="E2E7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50976" y="4160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principle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50976" y="4553712"/>
            <a:ext cx="10241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raw transcript and board text are always kept. Any AI suggestion sits beside the evidence as a flag to accept — it never overwrites it.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00">
        <p:fade thruBlk="1"/>
      </p:transition>
    </mc:Choice>
    <mc:Fallback xmlns="">
      <p:transition spd="med"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repeatCount="30000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18 0.014 0.032 0.034 0.028 0.050 C 0.024 0.066 0.004 0.060 -0.011 0.048 C -0.026 0.036 -0.020 0.013 0 0 Z E" pathEditMode="relative" ptsTypes="">
                                      <p:cBhvr>
                                        <p:cTn id="6" dur="19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repeatCount="300000" accel="50000" decel="5000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Motion origin="layout" path="M 0 0 C -0.022 0.016 -0.038 0.030 -0.031 0.048 C -0.024 0.066 -0.002 0.062 0.014 0.049 C 0.030 0.036 0.021 0.014 0 0 Z E" pathEditMode="relative" ptsTypes="">
                                      <p:cBhvr>
                                        <p:cTn id="8" dur="25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98480" y="2194560"/>
            <a:ext cx="2926080" cy="2926080"/>
          </a:xfrm>
          <a:prstGeom prst="ellipse">
            <a:avLst/>
          </a:prstGeom>
          <a:solidFill>
            <a:srgbClr val="C7D8F2">
              <a:alpha val="3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-1097280"/>
            <a:ext cx="2743200" cy="2743200"/>
          </a:xfrm>
          <a:prstGeom prst="ellipse">
            <a:avLst/>
          </a:prstGeom>
          <a:solidFill>
            <a:srgbClr val="C7D8F2">
              <a:alpha val="3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384048"/>
            <a:ext cx="110550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66928" y="1060704"/>
            <a:ext cx="110550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project delivers, and what it deliberately excludes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66928" y="1600200"/>
            <a:ext cx="5440680" cy="452628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7830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80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SCOPE — built and working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41248" y="22128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70432" y="2212848"/>
            <a:ext cx="4617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voice capture, 20 s chunks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41248" y="26334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70432" y="2633472"/>
            <a:ext cx="4617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board capture, 2–30 s interval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41248" y="30540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70432" y="3054096"/>
            <a:ext cx="4617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frame filtering before any API call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41248" y="3474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70432" y="3474720"/>
            <a:ext cx="4617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Diarized transcript, per-chunk speaker labels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41248" y="38953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70432" y="3895344"/>
            <a:ext cx="4617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Markdown note during the lecture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41248" y="43159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70432" y="4315968"/>
            <a:ext cx="4617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text, equations, concepts, diagram crops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41248" y="47365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70432" y="4736592"/>
            <a:ext cx="4617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 control: short / balanced / elaborate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41248" y="51572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70432" y="5157216"/>
            <a:ext cx="4617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End-of-session formula and concept check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41248" y="5577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170432" y="5577840"/>
            <a:ext cx="4617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storage, folders, syllabus, Obsidian export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355080" y="1600200"/>
            <a:ext cx="5266944" cy="452628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29400" y="17830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80" dirty="0">
                <a:solidFill>
                  <a:srgbClr val="9E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SCOPE — and why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629400" y="22494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E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958584" y="2231136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/ screen-off recording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6958584" y="248716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 and privacy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629400" y="29077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E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958584" y="288950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Identifying who the teacher is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6958584" y="314553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voice enrolment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629400" y="3566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E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6958584" y="354787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word-by-word captions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6958584" y="380390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latency problem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629400" y="42245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E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6958584" y="420624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Accounts, cloud sync, sharing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6958584" y="4462272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local-first by design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629400" y="48828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E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6958584" y="486460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Arbitrary handwriting recognition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6958584" y="512064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 by the model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629400" y="55412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E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6958584" y="5522976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/ DOCX syllabus import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6958584" y="577900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 and text for now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00">
        <p:fade thruBlk="1"/>
      </p:transition>
    </mc:Choice>
    <mc:Fallback xmlns="">
      <p:transition spd="med"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repeatCount="30000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18 0.014 0.032 0.034 0.028 0.050 C 0.024 0.066 0.004 0.060 -0.011 0.048 C -0.026 0.036 -0.020 0.013 0 0 Z E" pathEditMode="relative" ptsTypes="">
                                      <p:cBhvr>
                                        <p:cTn id="6" dur="19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repeatCount="300000" accel="50000" decel="5000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Motion origin="layout" path="M 0 0 C -0.022 0.016 -0.038 0.030 -0.031 0.048 C -0.024 0.066 -0.002 0.062 0.014 0.049 C 0.030 0.036 0.021 0.014 0 0 Z E" pathEditMode="relative" ptsTypes="">
                                      <p:cBhvr>
                                        <p:cTn id="8" dur="25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-1554480"/>
            <a:ext cx="3566160" cy="3566160"/>
          </a:xfrm>
          <a:prstGeom prst="ellipse">
            <a:avLst/>
          </a:prstGeom>
          <a:solidFill>
            <a:srgbClr val="C7D8F2">
              <a:alpha val="3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5029200"/>
            <a:ext cx="2834640" cy="2834640"/>
          </a:xfrm>
          <a:prstGeom prst="ellipse">
            <a:avLst/>
          </a:prstGeom>
          <a:solidFill>
            <a:srgbClr val="C7D8F2">
              <a:alpha val="3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384048"/>
            <a:ext cx="110550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works, end to end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66928" y="1060704"/>
            <a:ext cx="110550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capture lanes, filtered on the device, merged into one append-only note — navy blocks are this project's own code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66928" y="1481328"/>
            <a:ext cx="2395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447288" y="1481328"/>
            <a:ext cx="2395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DEVICE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327648" y="1481328"/>
            <a:ext cx="2395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THE PROXY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208008" y="1481328"/>
            <a:ext cx="2395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NOTE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66928" y="1828800"/>
            <a:ext cx="2395728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6384" y="2029968"/>
            <a:ext cx="1993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Microphone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86384" y="2414016"/>
            <a:ext cx="1993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kHz mono, captured in continuous 20-second chunks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447288" y="1828800"/>
            <a:ext cx="2395728" cy="1481328"/>
          </a:xfrm>
          <a:prstGeom prst="roundRect">
            <a:avLst>
              <a:gd name="adj" fmla="val 5556"/>
            </a:avLst>
          </a:prstGeom>
          <a:solidFill>
            <a:srgbClr val="1E2761"/>
          </a:solidFill>
          <a:ln w="12700">
            <a:solidFill>
              <a:srgbClr val="E2E7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66744" y="2029968"/>
            <a:ext cx="1993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queue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666744" y="2414016"/>
            <a:ext cx="1993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Unbounded and strictly ordered. Nothing is dropped — captured speech cannot be recovered later.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327648" y="1828800"/>
            <a:ext cx="2395728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47104" y="2029968"/>
            <a:ext cx="1993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Transcription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547104" y="2414016"/>
            <a:ext cx="1993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plus a per-chunk dominant speaker, or AMBIGUOUS when the threshold is not met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66928" y="3474720"/>
            <a:ext cx="2395728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86384" y="3675888"/>
            <a:ext cx="1993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86384" y="4059936"/>
            <a:ext cx="1993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board frame every 2–30 seconds, interval set by the student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447288" y="3474720"/>
            <a:ext cx="2395728" cy="1481328"/>
          </a:xfrm>
          <a:prstGeom prst="roundRect">
            <a:avLst>
              <a:gd name="adj" fmla="val 5556"/>
            </a:avLst>
          </a:prstGeom>
          <a:solidFill>
            <a:srgbClr val="1E2761"/>
          </a:solidFill>
          <a:ln w="12700">
            <a:solidFill>
              <a:srgbClr val="E2E7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66744" y="3675888"/>
            <a:ext cx="1993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filter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3666744" y="4059936"/>
            <a:ext cx="1993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32×32 luminance compare. ~450 frames an hour become ~40; the rest are deleted on the phone.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327648" y="3474720"/>
            <a:ext cx="2395728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47104" y="3675888"/>
            <a:ext cx="1993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extraction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547104" y="4059936"/>
            <a:ext cx="1993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text, equations, concepts and diagram regions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9208008" y="1828800"/>
            <a:ext cx="2395728" cy="3127248"/>
          </a:xfrm>
          <a:prstGeom prst="roundRect">
            <a:avLst>
              <a:gd name="adj" fmla="val 3435"/>
            </a:avLst>
          </a:prstGeom>
          <a:solidFill>
            <a:srgbClr val="1E2761"/>
          </a:solidFill>
          <a:ln w="12700">
            <a:solidFill>
              <a:srgbClr val="E2E7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427464" y="2029968"/>
            <a:ext cx="1993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builder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9427464" y="2432304"/>
            <a:ext cx="146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9628632" y="2432304"/>
            <a:ext cx="17739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bounded context and a SHA-256 of the note as it stands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9427464" y="3090672"/>
            <a:ext cx="146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9628632" y="3090672"/>
            <a:ext cx="17739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returns only new text, never a rewrite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9427464" y="3749040"/>
            <a:ext cx="146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9628632" y="3749040"/>
            <a:ext cx="17739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Committed only if the revision still matches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9427464" y="4498848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Markdown note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3063240" y="2432304"/>
            <a:ext cx="283464" cy="274320"/>
          </a:xfrm>
          <a:prstGeom prst="rightArrow">
            <a:avLst/>
          </a:prstGeom>
          <a:solidFill>
            <a:srgbClr val="E8A33D"/>
          </a:solidFill>
          <a:ln/>
        </p:spPr>
      </p:sp>
      <p:sp>
        <p:nvSpPr>
          <p:cNvPr id="38" name="Shape 36"/>
          <p:cNvSpPr/>
          <p:nvPr/>
        </p:nvSpPr>
        <p:spPr>
          <a:xfrm>
            <a:off x="5943600" y="2432304"/>
            <a:ext cx="283464" cy="274320"/>
          </a:xfrm>
          <a:prstGeom prst="rightArrow">
            <a:avLst/>
          </a:prstGeom>
          <a:solidFill>
            <a:srgbClr val="E8A33D"/>
          </a:solidFill>
          <a:ln/>
        </p:spPr>
      </p:sp>
      <p:sp>
        <p:nvSpPr>
          <p:cNvPr id="39" name="Shape 37"/>
          <p:cNvSpPr/>
          <p:nvPr/>
        </p:nvSpPr>
        <p:spPr>
          <a:xfrm>
            <a:off x="8823960" y="2432304"/>
            <a:ext cx="283464" cy="274320"/>
          </a:xfrm>
          <a:prstGeom prst="rightArrow">
            <a:avLst/>
          </a:prstGeom>
          <a:solidFill>
            <a:srgbClr val="E8A33D"/>
          </a:solidFill>
          <a:ln/>
        </p:spPr>
      </p:sp>
      <p:sp>
        <p:nvSpPr>
          <p:cNvPr id="40" name="Shape 38"/>
          <p:cNvSpPr/>
          <p:nvPr/>
        </p:nvSpPr>
        <p:spPr>
          <a:xfrm>
            <a:off x="3063240" y="4078224"/>
            <a:ext cx="283464" cy="274320"/>
          </a:xfrm>
          <a:prstGeom prst="rightArrow">
            <a:avLst/>
          </a:prstGeom>
          <a:solidFill>
            <a:srgbClr val="E8A33D"/>
          </a:solidFill>
          <a:ln/>
        </p:spPr>
      </p:sp>
      <p:sp>
        <p:nvSpPr>
          <p:cNvPr id="41" name="Shape 39"/>
          <p:cNvSpPr/>
          <p:nvPr/>
        </p:nvSpPr>
        <p:spPr>
          <a:xfrm>
            <a:off x="5943600" y="4078224"/>
            <a:ext cx="283464" cy="274320"/>
          </a:xfrm>
          <a:prstGeom prst="rightArrow">
            <a:avLst/>
          </a:prstGeom>
          <a:solidFill>
            <a:srgbClr val="E8A33D"/>
          </a:solidFill>
          <a:ln/>
        </p:spPr>
      </p:sp>
      <p:sp>
        <p:nvSpPr>
          <p:cNvPr id="42" name="Shape 40"/>
          <p:cNvSpPr/>
          <p:nvPr/>
        </p:nvSpPr>
        <p:spPr>
          <a:xfrm>
            <a:off x="8823960" y="4078224"/>
            <a:ext cx="283464" cy="274320"/>
          </a:xfrm>
          <a:prstGeom prst="rightArrow">
            <a:avLst/>
          </a:prstGeom>
          <a:solidFill>
            <a:srgbClr val="E8A33D"/>
          </a:solidFill>
          <a:ln/>
        </p:spPr>
      </p:sp>
      <p:sp>
        <p:nvSpPr>
          <p:cNvPr id="43" name="Shape 41"/>
          <p:cNvSpPr/>
          <p:nvPr/>
        </p:nvSpPr>
        <p:spPr>
          <a:xfrm>
            <a:off x="566928" y="5248656"/>
            <a:ext cx="5623560" cy="1051560"/>
          </a:xfrm>
          <a:prstGeom prst="roundRect">
            <a:avLst>
              <a:gd name="adj" fmla="val 7826"/>
            </a:avLst>
          </a:prstGeom>
          <a:solidFill>
            <a:srgbClr val="E8F0FE"/>
          </a:solidFill>
          <a:ln w="12700">
            <a:solidFill>
              <a:srgbClr val="E2E7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41248" y="541324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EVIDENCE STORE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841248" y="5687568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Transcript, board text and diagram crops are written to the local database exactly as captured. No model output overwrites them.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345936" y="5248656"/>
            <a:ext cx="5276088" cy="1051560"/>
          </a:xfrm>
          <a:prstGeom prst="roundRect">
            <a:avLst>
              <a:gd name="adj" fmla="val 7826"/>
            </a:avLst>
          </a:prstGeom>
          <a:solidFill>
            <a:srgbClr val="E8F0FE"/>
          </a:solidFill>
          <a:ln w="12700">
            <a:solidFill>
              <a:srgbClr val="E2E7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620256" y="5413248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END-OF-SESSION CHECK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620256" y="5687568"/>
            <a:ext cx="4727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 model re-reads the finished note against the evidence and returns concept and formula findings, appended as review flags.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00">
        <p:fade thruBlk="1"/>
      </p:transition>
    </mc:Choice>
    <mc:Fallback xmlns="">
      <p:transition spd="med"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repeatCount="30000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18 0.014 0.032 0.034 0.028 0.050 C 0.024 0.066 0.004 0.060 -0.011 0.048 C -0.026 0.036 -0.020 0.013 0 0 Z E" pathEditMode="relative" ptsTypes="">
                                      <p:cBhvr>
                                        <p:cTn id="6" dur="19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repeatCount="300000" accel="50000" decel="5000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Motion origin="layout" path="M 0 0 C -0.022 0.016 -0.038 0.030 -0.031 0.048 C -0.024 0.066 -0.002 0.062 0.014 0.049 C 0.030 0.036 0.021 0.014 0 0 Z E" pathEditMode="relative" ptsTypes="">
                                      <p:cBhvr>
                                        <p:cTn id="8" dur="25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280160"/>
            <a:ext cx="3108960" cy="3108960"/>
          </a:xfrm>
          <a:prstGeom prst="ellipse">
            <a:avLst/>
          </a:prstGeom>
          <a:solidFill>
            <a:srgbClr val="C7D8F2">
              <a:alpha val="3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754880"/>
            <a:ext cx="3291840" cy="3291840"/>
          </a:xfrm>
          <a:prstGeom prst="ellipse">
            <a:avLst/>
          </a:prstGeom>
          <a:solidFill>
            <a:srgbClr val="C7D8F2">
              <a:alpha val="3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384048"/>
            <a:ext cx="110550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66928" y="1060704"/>
            <a:ext cx="110550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and storage stay on the device; credentials and policy stay on the server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66928" y="1691640"/>
            <a:ext cx="3749040" cy="3200400"/>
          </a:xfrm>
          <a:prstGeom prst="roundRect">
            <a:avLst>
              <a:gd name="adj" fmla="val 2571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87452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DEVICE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2267712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AudioRecord — 16 kHz mono, 20 s WAV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2843784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CameraX — frame every 2–30 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3419856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change filter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399592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v2 — notes, transcript, evidence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828032" y="1691640"/>
            <a:ext cx="3200400" cy="3200400"/>
          </a:xfrm>
          <a:prstGeom prst="roundRect">
            <a:avLst>
              <a:gd name="adj" fmla="val 2571"/>
            </a:avLst>
          </a:prstGeom>
          <a:solidFill>
            <a:srgbClr val="1E2761"/>
          </a:solidFill>
          <a:ln w="12700">
            <a:solidFill>
              <a:srgbClr val="E2E7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84064" y="1874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PROXY SERVICE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84064" y="2267712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the API key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84064" y="2843784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Token-authenticated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84064" y="3419856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limited, with a daily spend cap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84064" y="3995928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Forwards in memory; nothing written to disk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284464" y="1691640"/>
            <a:ext cx="3337560" cy="3200400"/>
          </a:xfrm>
          <a:prstGeom prst="roundRect">
            <a:avLst>
              <a:gd name="adj" fmla="val 2571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40496" y="187452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MODELS — INTERCHANGEABLE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540496" y="226771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Transcription + speaker split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540496" y="2843784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reading + diagram regions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540496" y="3419856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writing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540496" y="399592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End-of-session checking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370832" y="3063240"/>
            <a:ext cx="384048" cy="274320"/>
          </a:xfrm>
          <a:prstGeom prst="rightArrow">
            <a:avLst/>
          </a:prstGeom>
          <a:solidFill>
            <a:srgbClr val="E8A33D"/>
          </a:solidFill>
          <a:ln/>
        </p:spPr>
      </p:sp>
      <p:sp>
        <p:nvSpPr>
          <p:cNvPr id="25" name="Shape 23"/>
          <p:cNvSpPr/>
          <p:nvPr/>
        </p:nvSpPr>
        <p:spPr>
          <a:xfrm>
            <a:off x="8083296" y="3063240"/>
            <a:ext cx="384048" cy="274320"/>
          </a:xfrm>
          <a:prstGeom prst="rightArrow">
            <a:avLst/>
          </a:prstGeom>
          <a:solidFill>
            <a:srgbClr val="E8A33D"/>
          </a:solidFill>
          <a:ln/>
        </p:spPr>
      </p:sp>
      <p:sp>
        <p:nvSpPr>
          <p:cNvPr id="26" name="Shape 24"/>
          <p:cNvSpPr/>
          <p:nvPr/>
        </p:nvSpPr>
        <p:spPr>
          <a:xfrm>
            <a:off x="566928" y="5120640"/>
            <a:ext cx="11055096" cy="914400"/>
          </a:xfrm>
          <a:prstGeom prst="roundRect">
            <a:avLst>
              <a:gd name="adj" fmla="val 9000"/>
            </a:avLst>
          </a:prstGeom>
          <a:solidFill>
            <a:srgbClr val="E8F0FE"/>
          </a:solidFill>
          <a:ln w="12700">
            <a:solidFill>
              <a:srgbClr val="E2E7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86968" y="5321808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proxy: an APK is a distributable archive, so any credential compiled into it can be recovered. The API key never ships inside the application.</a:t>
            </a:r>
            <a:endParaRPr lang="en-US" sz="135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00">
        <p:fade thruBlk="1"/>
      </p:transition>
    </mc:Choice>
    <mc:Fallback xmlns="">
      <p:transition spd="med"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repeatCount="30000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18 0.014 0.032 0.034 0.028 0.050 C 0.024 0.066 0.004 0.060 -0.011 0.048 C -0.026 0.036 -0.020 0.013 0 0 Z E" pathEditMode="relative" ptsTypes="">
                                      <p:cBhvr>
                                        <p:cTn id="6" dur="19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repeatCount="300000" accel="50000" decel="5000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Motion origin="layout" path="M 0 0 C -0.022 0.016 -0.038 0.030 -0.031 0.048 C -0.024 0.066 -0.002 0.062 0.014 0.049 C 0.030 0.036 0.021 0.014 0 0 Z E" pathEditMode="relative" ptsTypes="">
                                      <p:cBhvr>
                                        <p:cTn id="8" dur="25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98480" y="2194560"/>
            <a:ext cx="2926080" cy="2926080"/>
          </a:xfrm>
          <a:prstGeom prst="ellipse">
            <a:avLst/>
          </a:prstGeom>
          <a:solidFill>
            <a:srgbClr val="C7D8F2">
              <a:alpha val="3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-1097280"/>
            <a:ext cx="2743200" cy="2743200"/>
          </a:xfrm>
          <a:prstGeom prst="ellipse">
            <a:avLst/>
          </a:prstGeom>
          <a:solidFill>
            <a:srgbClr val="C7D8F2">
              <a:alpha val="3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384048"/>
            <a:ext cx="110550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algorithm: on-device frame filtering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66928" y="1060704"/>
            <a:ext cx="110550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Executed on the phone, before any network call is made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66928" y="173736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15568" y="168249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Downsample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852928" y="1682496"/>
            <a:ext cx="44622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frame to a 32×32 luminance grid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66928" y="260604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2606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15568" y="255117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Compensate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852928" y="2551176"/>
            <a:ext cx="44622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Subtract the global brightness shift, so a lighting change is not mistaken for new board content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66928" y="347472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566928" y="3474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15568" y="341985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852928" y="3419856"/>
            <a:ext cx="44622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Centred pixel difference and fraction of pixels changed, against the last committed state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66928" y="4343400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9" name="Text 17"/>
          <p:cNvSpPr/>
          <p:nvPr/>
        </p:nvSpPr>
        <p:spPr>
          <a:xfrm>
            <a:off x="566928" y="4343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15568" y="428853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852928" y="4288536"/>
            <a:ext cx="44622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change must still be there on the next sample. Writing stays; a person does not.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66928" y="521208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566928" y="5212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15568" y="515721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2852928" y="5157216"/>
            <a:ext cx="44622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 settled change is sent; everything else is discarded on the phone with no API call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7772400" y="1737360"/>
            <a:ext cx="3840480" cy="2103120"/>
          </a:xfrm>
          <a:prstGeom prst="roundRect">
            <a:avLst>
              <a:gd name="adj" fmla="val 3913"/>
            </a:avLst>
          </a:prstGeom>
          <a:solidFill>
            <a:srgbClr val="1E2761"/>
          </a:solidFill>
          <a:ln w="12700">
            <a:solidFill>
              <a:srgbClr val="E2E7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46720" y="1865376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rgbClr val="6E7BB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~450</a:t>
            </a:r>
            <a:endParaRPr lang="en-US" sz="3800" dirty="0"/>
          </a:p>
        </p:txBody>
      </p:sp>
      <p:sp>
        <p:nvSpPr>
          <p:cNvPr id="28" name="Text 26"/>
          <p:cNvSpPr/>
          <p:nvPr/>
        </p:nvSpPr>
        <p:spPr>
          <a:xfrm>
            <a:off x="8046720" y="2468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frames in a 1-hour lecture at 8 s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8046720" y="2779776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~40</a:t>
            </a:r>
            <a:endParaRPr lang="en-US" sz="3200" dirty="0"/>
          </a:p>
        </p:txBody>
      </p:sp>
      <p:sp>
        <p:nvSpPr>
          <p:cNvPr id="30" name="Text 28"/>
          <p:cNvSpPr/>
          <p:nvPr/>
        </p:nvSpPr>
        <p:spPr>
          <a:xfrm>
            <a:off x="8046720" y="332841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board states actually sent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7772400" y="4023360"/>
            <a:ext cx="3840480" cy="1051560"/>
          </a:xfrm>
          <a:prstGeom prst="roundRect">
            <a:avLst>
              <a:gd name="adj" fmla="val 7826"/>
            </a:avLst>
          </a:prstGeom>
          <a:solidFill>
            <a:srgbClr val="E8F0FE"/>
          </a:solidFill>
          <a:ln w="12700">
            <a:solidFill>
              <a:srgbClr val="E2E7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046720" y="41605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settle step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8046720" y="44348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teacher walking past changed the frame and triggered an upload. Now movement never survives to the second sample.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772400" y="5230368"/>
            <a:ext cx="3840480" cy="1051560"/>
          </a:xfrm>
          <a:prstGeom prst="roundRect">
            <a:avLst>
              <a:gd name="adj" fmla="val 7826"/>
            </a:avLst>
          </a:prstGeom>
          <a:solidFill>
            <a:srgbClr val="E8F0FE"/>
          </a:solidFill>
          <a:ln w="12700">
            <a:solidFill>
              <a:srgbClr val="E2E7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046720" y="536752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Two-phase commit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8046720" y="564184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baseline advances only after the note and crops are saved, so a failed extraction is retried, not lost.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00">
        <p:fade thruBlk="1"/>
      </p:transition>
    </mc:Choice>
    <mc:Fallback xmlns="">
      <p:transition spd="med"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repeatCount="30000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18 0.014 0.032 0.034 0.028 0.050 C 0.024 0.066 0.004 0.060 -0.011 0.048 C -0.026 0.036 -0.020 0.013 0 0 Z E" pathEditMode="relative" ptsTypes="">
                                      <p:cBhvr>
                                        <p:cTn id="6" dur="19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repeatCount="300000" accel="50000" decel="5000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Motion origin="layout" path="M 0 0 C -0.022 0.016 -0.038 0.030 -0.031 0.048 C -0.024 0.066 -0.002 0.062 0.014 0.049 C 0.030 0.036 0.021 0.014 0 0 Z E" pathEditMode="relative" ptsTypes="">
                                      <p:cBhvr>
                                        <p:cTn id="8" dur="25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-1554480"/>
            <a:ext cx="3566160" cy="3566160"/>
          </a:xfrm>
          <a:prstGeom prst="ellipse">
            <a:avLst/>
          </a:prstGeom>
          <a:solidFill>
            <a:srgbClr val="C7D8F2">
              <a:alpha val="3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5029200"/>
            <a:ext cx="2834640" cy="2834640"/>
          </a:xfrm>
          <a:prstGeom prst="ellipse">
            <a:avLst/>
          </a:prstGeom>
          <a:solidFill>
            <a:srgbClr val="C7D8F2">
              <a:alpha val="3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384048"/>
            <a:ext cx="110550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Additional project-owned algorithms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66928" y="1060704"/>
            <a:ext cx="110550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provider has already been migrated once; none of this logic changed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66928" y="1691640"/>
            <a:ext cx="5431536" cy="1572768"/>
          </a:xfrm>
          <a:prstGeom prst="roundRect">
            <a:avLst>
              <a:gd name="adj" fmla="val 5233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1248" y="1947672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841248" y="19476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98448" y="1956816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Per-chunk speaker focus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841248" y="2423160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Assigns the dominant label by voiced duration, but only where it holds ≥58% with a ≥15-point margin. Otherwise it reports AMBIGUOUS rather than guessing.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90488" y="1691640"/>
            <a:ext cx="5431536" cy="1572768"/>
          </a:xfrm>
          <a:prstGeom prst="roundRect">
            <a:avLst>
              <a:gd name="adj" fmla="val 5233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64808" y="1947672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6464808" y="19476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922008" y="1956816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 delta protocol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464808" y="2423160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bounded context + a SHA-256 of the note; the model returns only new text. Cost stays flat instead of growing with note length.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66928" y="3584448"/>
            <a:ext cx="5431536" cy="1572768"/>
          </a:xfrm>
          <a:prstGeom prst="roundRect">
            <a:avLst>
              <a:gd name="adj" fmla="val 5233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" y="3840480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841248" y="38404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298448" y="3849624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queues, two policies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841248" y="4315968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Audio: unbounded and ordered — speech is irreplaceable. Frames: one slot, drop-oldest — the board has already moved on.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190488" y="3584448"/>
            <a:ext cx="5431536" cy="1572768"/>
          </a:xfrm>
          <a:prstGeom prst="roundRect">
            <a:avLst>
              <a:gd name="adj" fmla="val 5233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64808" y="3840480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6464808" y="38404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922008" y="3849624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Syllabus relevance ranking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6464808" y="4315968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syllabus chunks against current evidence and forwards only the top excerpts. Marked context, never proof.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66928" y="5486400"/>
            <a:ext cx="11055096" cy="777240"/>
          </a:xfrm>
          <a:prstGeom prst="roundRect">
            <a:avLst>
              <a:gd name="adj" fmla="val 8235"/>
            </a:avLst>
          </a:prstGeom>
          <a:solidFill>
            <a:srgbClr val="E8EEFA"/>
          </a:solidFill>
          <a:ln/>
        </p:spPr>
      </p:sp>
      <p:sp>
        <p:nvSpPr>
          <p:cNvPr id="27" name="Text 25"/>
          <p:cNvSpPr/>
          <p:nvPr/>
        </p:nvSpPr>
        <p:spPr>
          <a:xfrm>
            <a:off x="886968" y="548640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four, with the frame filter, are implemented in this project.  </a:t>
            </a:r>
            <a:r>
              <a:rPr lang="en-US" sz="1300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models sit behind them as interchangeable components.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00">
        <p:fade thruBlk="1"/>
      </p:transition>
    </mc:Choice>
    <mc:Fallback xmlns="">
      <p:transition spd="med"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repeatCount="30000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18 0.014 0.032 0.034 0.028 0.050 C 0.024 0.066 0.004 0.060 -0.011 0.048 C -0.026 0.036 -0.020 0.013 0 0 Z E" pathEditMode="relative" ptsTypes="">
                                      <p:cBhvr>
                                        <p:cTn id="6" dur="19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repeatCount="300000" accel="50000" decel="5000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Motion origin="layout" path="M 0 0 C -0.022 0.016 -0.038 0.030 -0.031 0.048 C -0.024 0.066 -0.002 0.062 0.014 0.049 C 0.030 0.036 0.021 0.014 0 0 Z E" pathEditMode="relative" ptsTypes="">
                                      <p:cBhvr>
                                        <p:cTn id="8" dur="25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280160"/>
            <a:ext cx="3108960" cy="3108960"/>
          </a:xfrm>
          <a:prstGeom prst="ellipse">
            <a:avLst/>
          </a:prstGeom>
          <a:solidFill>
            <a:srgbClr val="C7D8F2">
              <a:alpha val="3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754880"/>
            <a:ext cx="3291840" cy="3291840"/>
          </a:xfrm>
          <a:prstGeom prst="ellipse">
            <a:avLst/>
          </a:prstGeom>
          <a:solidFill>
            <a:srgbClr val="C7D8F2">
              <a:alpha val="3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384048"/>
            <a:ext cx="110550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Alternatives considered and rejected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66928" y="1060704"/>
            <a:ext cx="110550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exclusion was a design decision, not an omission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66928" y="1609344"/>
            <a:ext cx="11055096" cy="612648"/>
          </a:xfrm>
          <a:prstGeom prst="roundRect">
            <a:avLst>
              <a:gd name="adj" fmla="val 7463"/>
            </a:avLst>
          </a:prstGeom>
          <a:solidFill>
            <a:srgbClr val="FFFFFF"/>
          </a:solidFill>
          <a:ln w="12700">
            <a:solidFill>
              <a:srgbClr val="EDF1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" y="17099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E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171907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Record, transcribe afterwards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047488" y="1719072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only — misses the board entirely, and gives no structure during the lecture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68096" y="23591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E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7280" y="236829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every camera frame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047488" y="2368296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~450 calls/hour instead of ~40 — roughly 10× cost for no extra information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66928" y="2907792"/>
            <a:ext cx="11055096" cy="612648"/>
          </a:xfrm>
          <a:prstGeom prst="roundRect">
            <a:avLst>
              <a:gd name="adj" fmla="val 7463"/>
            </a:avLst>
          </a:prstGeom>
          <a:solidFill>
            <a:srgbClr val="FFFFFF"/>
          </a:solidFill>
          <a:ln w="12700">
            <a:solidFill>
              <a:srgbClr val="EDF1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8096" y="30083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E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97280" y="301752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OCR only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047488" y="3017520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on handwriting, no concept structure, no diagram regions — kept as offline fallback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68096" y="3657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E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97280" y="366674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Transcription without speaker labels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047488" y="3666744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 focus becomes impossible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66928" y="4206240"/>
            <a:ext cx="11055096" cy="612648"/>
          </a:xfrm>
          <a:prstGeom prst="roundRect">
            <a:avLst>
              <a:gd name="adj" fmla="val 7463"/>
            </a:avLst>
          </a:prstGeom>
          <a:solidFill>
            <a:srgbClr val="FFFFFF"/>
          </a:solidFill>
          <a:ln w="12700">
            <a:solidFill>
              <a:srgbClr val="EDF1F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8096" y="43068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E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97280" y="431596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 inside the app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047488" y="4315968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Recoverable from the distributed APK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68096" y="49560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E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97280" y="496519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Resend the whole note each update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047488" y="4965192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grows with note length — a long lecture gets slow and expensive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66928" y="5504688"/>
            <a:ext cx="11055096" cy="612648"/>
          </a:xfrm>
          <a:prstGeom prst="roundRect">
            <a:avLst>
              <a:gd name="adj" fmla="val 7463"/>
            </a:avLst>
          </a:prstGeom>
          <a:solidFill>
            <a:srgbClr val="FFFFFF"/>
          </a:solidFill>
          <a:ln w="12700">
            <a:solidFill>
              <a:srgbClr val="EDF1F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68096" y="56052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E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097280" y="561441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the AI correct the teacher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5047488" y="5614416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Destroys evidence — if the AI is wrong, the student never finds out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00">
        <p:fade thruBlk="1"/>
      </p:transition>
    </mc:Choice>
    <mc:Fallback xmlns="">
      <p:transition spd="med"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repeatCount="30000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18 0.014 0.032 0.034 0.028 0.050 C 0.024 0.066 0.004 0.060 -0.011 0.048 C -0.026 0.036 -0.020 0.013 0 0 Z E" pathEditMode="relative" ptsTypes="">
                                      <p:cBhvr>
                                        <p:cTn id="6" dur="19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repeatCount="300000" accel="50000" decel="5000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Motion origin="layout" path="M 0 0 C -0.022 0.016 -0.038 0.030 -0.031 0.048 C -0.024 0.066 -0.002 0.062 0.014 0.049 C 0.030 0.036 0.021 0.014 0 0 Z E" pathEditMode="relative" ptsTypes="">
                                      <p:cBhvr>
                                        <p:cTn id="8" dur="25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98480" y="2194560"/>
            <a:ext cx="2926080" cy="2926080"/>
          </a:xfrm>
          <a:prstGeom prst="ellipse">
            <a:avLst/>
          </a:prstGeom>
          <a:solidFill>
            <a:srgbClr val="C7D8F2">
              <a:alpha val="3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-1097280"/>
            <a:ext cx="2743200" cy="2743200"/>
          </a:xfrm>
          <a:prstGeom prst="ellipse">
            <a:avLst/>
          </a:prstGeom>
          <a:solidFill>
            <a:srgbClr val="C7D8F2">
              <a:alpha val="3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384048"/>
            <a:ext cx="110550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Speaker focus and background noise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66928" y="1060704"/>
            <a:ext cx="110550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system claims, and what it deliberately does not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66928" y="1691640"/>
            <a:ext cx="5440680" cy="260604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828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41248" y="22128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33856" y="2212848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the dominant speaker inside each 20 s chunk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41248" y="26151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33856" y="2615184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that speaker priority when the note is written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41248" y="3017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33856" y="301752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Says AMBIGUOUS when no one clears the threshold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41248" y="34198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33856" y="3419856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Allows the student to override the label for that chunk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355080" y="1691640"/>
            <a:ext cx="5266944" cy="260604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29400" y="18288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9E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 NOT DO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629400" y="22128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E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922008" y="221284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who the teacher is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629400" y="26151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E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922008" y="261518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Carry a speaker identity across chunks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629400" y="3017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E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922008" y="301752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any voiceprint or biometric data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629400" y="3639312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come back per request. “A” in chunk 5 is not guaranteed to be “A” in chunk 6 — so no persistent identity is claimed.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66928" y="4526280"/>
            <a:ext cx="11055096" cy="1554480"/>
          </a:xfrm>
          <a:prstGeom prst="roundRect">
            <a:avLst>
              <a:gd name="adj" fmla="val 5294"/>
            </a:avLst>
          </a:prstGeom>
          <a:solidFill>
            <a:srgbClr val="1E2761"/>
          </a:solidFill>
          <a:ln w="12700">
            <a:solidFill>
              <a:srgbClr val="E2E7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32688" y="470001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8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background noise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32688" y="502920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layers: hardware noise suppression and automatic gain control; a transcription model instructed to return nothing for silence rather than invent text; and content rules that de-prioritise audience chatter while retaining questions that clarify the lesson.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00">
        <p:fade thruBlk="1"/>
      </p:transition>
    </mc:Choice>
    <mc:Fallback xmlns="">
      <p:transition spd="med"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repeatCount="30000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18 0.014 0.032 0.034 0.028 0.050 C 0.024 0.066 0.004 0.060 -0.011 0.048 C -0.026 0.036 -0.020 0.013 0 0 Z E" pathEditMode="relative" ptsTypes="">
                                      <p:cBhvr>
                                        <p:cTn id="6" dur="19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repeatCount="300000" accel="50000" decel="5000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Motion origin="layout" path="M 0 0 C -0.022 0.016 -0.038 0.030 -0.031 0.048 C -0.024 0.066 -0.002 0.062 0.014 0.049 C 0.030 0.036 0.021 0.014 0 0 Z E" pathEditMode="relative" ptsTypes="">
                                      <p:cBhvr>
                                        <p:cTn id="8" dur="25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-1554480"/>
            <a:ext cx="3566160" cy="3566160"/>
          </a:xfrm>
          <a:prstGeom prst="ellipse">
            <a:avLst/>
          </a:prstGeom>
          <a:solidFill>
            <a:srgbClr val="C7D8F2">
              <a:alpha val="3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5029200"/>
            <a:ext cx="2834640" cy="2834640"/>
          </a:xfrm>
          <a:prstGeom prst="ellipse">
            <a:avLst/>
          </a:prstGeom>
          <a:solidFill>
            <a:srgbClr val="C7D8F2">
              <a:alpha val="3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384048"/>
            <a:ext cx="110550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 status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66928" y="1060704"/>
            <a:ext cx="110550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Stated by level of evidence; no accuracy figure is claimed yet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66928" y="1719072"/>
            <a:ext cx="11055096" cy="749808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938528"/>
            <a:ext cx="256032" cy="256032"/>
          </a:xfrm>
          <a:prstGeom prst="ellipse">
            <a:avLst/>
          </a:prstGeom>
          <a:solidFill>
            <a:srgbClr val="2C6E49"/>
          </a:solidFill>
          <a:ln/>
        </p:spPr>
      </p:sp>
      <p:sp>
        <p:nvSpPr>
          <p:cNvPr id="8" name="Text 6"/>
          <p:cNvSpPr/>
          <p:nvPr/>
        </p:nvSpPr>
        <p:spPr>
          <a:xfrm>
            <a:off x="1225296" y="181051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950208" y="182880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 Android tests across 29 suites · 36 backend tests · 0 lint errors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9985248" y="1920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80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PASSING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66928" y="2578608"/>
            <a:ext cx="11055096" cy="749808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2798064"/>
            <a:ext cx="256032" cy="256032"/>
          </a:xfrm>
          <a:prstGeom prst="ellipse">
            <a:avLst/>
          </a:prstGeom>
          <a:solidFill>
            <a:srgbClr val="2C6E49"/>
          </a:solidFill>
          <a:ln/>
        </p:spPr>
      </p:sp>
      <p:sp>
        <p:nvSpPr>
          <p:cNvPr id="13" name="Text 11"/>
          <p:cNvSpPr/>
          <p:nvPr/>
        </p:nvSpPr>
        <p:spPr>
          <a:xfrm>
            <a:off x="1225296" y="267004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Device-verified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950208" y="2688336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session 11.1 s and camera+audio 32.3 s on Android 16, repeatable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9985248" y="277977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80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66928" y="3438144"/>
            <a:ext cx="11055096" cy="749808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3657600"/>
            <a:ext cx="256032" cy="256032"/>
          </a:xfrm>
          <a:prstGeom prst="ellipse">
            <a:avLst/>
          </a:prstGeom>
          <a:solidFill>
            <a:srgbClr val="2C6E49"/>
          </a:solidFill>
          <a:ln/>
        </p:spPr>
      </p:sp>
      <p:sp>
        <p:nvSpPr>
          <p:cNvPr id="18" name="Text 16"/>
          <p:cNvSpPr/>
          <p:nvPr/>
        </p:nvSpPr>
        <p:spPr>
          <a:xfrm>
            <a:off x="1225296" y="352958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AI verified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3950208" y="3547872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endpoints against real models; two speakers split correctly, equation read exactly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9985248" y="36393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80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PASSING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66928" y="4297680"/>
            <a:ext cx="11055096" cy="749808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2960" y="4517136"/>
            <a:ext cx="256032" cy="25603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3" name="Text 21"/>
          <p:cNvSpPr/>
          <p:nvPr/>
        </p:nvSpPr>
        <p:spPr>
          <a:xfrm>
            <a:off x="1225296" y="43891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Real-lecture trials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3950208" y="4407408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YouTube segment and a live class: 7 defects exposed, all 7 fixed and covered by tests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9985248" y="44988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8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RUNS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66928" y="5157216"/>
            <a:ext cx="11055096" cy="749808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22960" y="5376672"/>
            <a:ext cx="256032" cy="256032"/>
          </a:xfrm>
          <a:prstGeom prst="ellipse">
            <a:avLst/>
          </a:prstGeom>
          <a:solidFill>
            <a:srgbClr val="5B6180"/>
          </a:solidFill>
          <a:ln/>
        </p:spPr>
      </p:sp>
      <p:sp>
        <p:nvSpPr>
          <p:cNvPr id="28" name="Text 26"/>
          <p:cNvSpPr/>
          <p:nvPr/>
        </p:nvSpPr>
        <p:spPr>
          <a:xfrm>
            <a:off x="1225296" y="52486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and cost re-measurement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3950208" y="5266944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error rate, diarization, OCR, crop IoU — and cost, on a labelled corpus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9985248" y="535838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8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YET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66928" y="6144768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note update fell 6× — forwarded context is now capped at 8,000 characters, not 48,000. The $0.18 lecture-hour is being re-measured.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00">
        <p:fade thruBlk="1"/>
      </p:transition>
    </mc:Choice>
    <mc:Fallback xmlns="">
      <p:transition spd="med"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repeatCount="30000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18 0.014 0.032 0.034 0.028 0.050 C 0.024 0.066 0.004 0.060 -0.011 0.048 C -0.026 0.036 -0.020 0.013 0 0 Z E" pathEditMode="relative" ptsTypes="">
                                      <p:cBhvr>
                                        <p:cTn id="6" dur="19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repeatCount="300000" accel="50000" decel="5000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Motion origin="layout" path="M 0 0 C -0.022 0.016 -0.038 0.030 -0.031 0.048 C -0.024 0.066 -0.002 0.062 0.014 0.049 C 0.030 0.036 0.021 0.014 0 0 Z E" pathEditMode="relative" ptsTypes="">
                                      <p:cBhvr>
                                        <p:cTn id="8" dur="25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280160"/>
            <a:ext cx="3108960" cy="3108960"/>
          </a:xfrm>
          <a:prstGeom prst="ellipse">
            <a:avLst/>
          </a:prstGeom>
          <a:solidFill>
            <a:srgbClr val="C7D8F2">
              <a:alpha val="3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754880"/>
            <a:ext cx="3291840" cy="3291840"/>
          </a:xfrm>
          <a:prstGeom prst="ellipse">
            <a:avLst/>
          </a:prstGeom>
          <a:solidFill>
            <a:srgbClr val="C7D8F2">
              <a:alpha val="3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384048"/>
            <a:ext cx="110550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in a real classroom found seven defects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66928" y="1060704"/>
            <a:ext cx="110550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trials — a recorded lecture and a live class. All seven are fixed and covered by tests.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66928" y="1627632"/>
            <a:ext cx="5431536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75564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9E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generation timed out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2048256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chosen model handled a small request in 0.7 s but exceeded the 90 s timeout once the note had grown.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22960" y="256032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Re-measured at scale; replaced with a model ~60× faster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190488" y="1627632"/>
            <a:ext cx="5431536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175564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9E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Formulas rendered as raw text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46520" y="2048256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mixed LaTeX delimiter styles the Markdown reader does not support.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446520" y="256032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Server rewrites every delimiter form to the two the reader renders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66928" y="3090672"/>
            <a:ext cx="5431536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21868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9E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 too much content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2960" y="3511296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 concept produced several pages of expansion.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22960" y="402336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Concise is now the default, with a custom instruction field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190488" y="3090672"/>
            <a:ext cx="5431536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46520" y="321868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9E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invented example appeared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46520" y="3511296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worked example was in neither the board nor the transcript.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446520" y="402336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The prompt now prohibits examples absent from the evidence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66928" y="4553712"/>
            <a:ext cx="5431536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468172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9E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movement triggered uploads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22960" y="4974336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crossing the camera changed the frame, so the filter paid for a board that had not changed.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22960" y="548640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 change must survive to the next sample before it is sent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190488" y="4553712"/>
            <a:ext cx="5431536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46520" y="468172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9E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cost too high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446520" y="4974336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48,000 characters of context were re-sent on every note update, ~180 times an hour.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46520" y="548640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Capped at 8,000, and the delta output ceiling cut to 1,200 tokens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66928" y="6053328"/>
            <a:ext cx="110550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seventh was the most instructive:  </a:t>
            </a:r>
            <a:r>
              <a:rPr lang="en-US" sz="1150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fixes were written but never deployed, so the live service kept serving the old code. Verifying the deployment is now part of the fix.</a:t>
            </a:r>
            <a:endParaRPr lang="en-US" sz="115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00">
        <p:fade thruBlk="1"/>
      </p:transition>
    </mc:Choice>
    <mc:Fallback xmlns="">
      <p:transition spd="med"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repeatCount="30000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18 0.014 0.032 0.034 0.028 0.050 C 0.024 0.066 0.004 0.060 -0.011 0.048 C -0.026 0.036 -0.020 0.013 0 0 Z E" pathEditMode="relative" ptsTypes="">
                                      <p:cBhvr>
                                        <p:cTn id="6" dur="19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repeatCount="300000" accel="50000" decel="5000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Motion origin="layout" path="M 0 0 C -0.022 0.016 -0.038 0.030 -0.031 0.048 C -0.024 0.066 -0.002 0.062 0.014 0.049 C 0.030 0.036 0.021 0.014 0 0 Z E" pathEditMode="relative" ptsTypes="">
                                      <p:cBhvr>
                                        <p:cTn id="8" dur="25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98480" y="2194560"/>
            <a:ext cx="2926080" cy="2926080"/>
          </a:xfrm>
          <a:prstGeom prst="ellipse">
            <a:avLst/>
          </a:prstGeom>
          <a:solidFill>
            <a:srgbClr val="C7D8F2">
              <a:alpha val="3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-1097280"/>
            <a:ext cx="2743200" cy="2743200"/>
          </a:xfrm>
          <a:prstGeom prst="ellipse">
            <a:avLst/>
          </a:prstGeom>
          <a:solidFill>
            <a:srgbClr val="C7D8F2">
              <a:alpha val="3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384048"/>
            <a:ext cx="110550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66928" y="1060704"/>
            <a:ext cx="110550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by priority — measured evaluation comes first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66928" y="1737360"/>
            <a:ext cx="11055096" cy="1243584"/>
          </a:xfrm>
          <a:prstGeom prst="roundRect">
            <a:avLst>
              <a:gd name="adj" fmla="val 6618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59536" y="2084832"/>
            <a:ext cx="438912" cy="43891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8" name="Text 6"/>
          <p:cNvSpPr/>
          <p:nvPr/>
        </p:nvSpPr>
        <p:spPr>
          <a:xfrm>
            <a:off x="859536" y="20848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527048" y="192024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evaluation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527048" y="2286000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fixed corpora — noisy classroom audio, board images, labelled notes — and a scorer. Then publish word error rate, diarization error, OCR accuracy and crop IoU.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" y="3154680"/>
            <a:ext cx="11055096" cy="1243584"/>
          </a:xfrm>
          <a:prstGeom prst="roundRect">
            <a:avLst>
              <a:gd name="adj" fmla="val 6618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59536" y="3502152"/>
            <a:ext cx="438912" cy="43891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859536" y="350215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527048" y="333756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Consent-aware speaker identity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527048" y="3703320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embeddings with an enrolment step and cross-chunk clustering, so the teacher can be tracked across a whole lecture rather than per chunk.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66928" y="4572000"/>
            <a:ext cx="11055096" cy="1243584"/>
          </a:xfrm>
          <a:prstGeom prst="roundRect">
            <a:avLst>
              <a:gd name="adj" fmla="val 6618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9536" y="4919472"/>
            <a:ext cx="438912" cy="43891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859536" y="491947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527048" y="475488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Full-note consolidation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527048" y="5120640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 today are append-only. A deliberate end-of-lecture pass would reorganise and de-duplicate the whole note.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66928" y="6108192"/>
            <a:ext cx="11055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planned:  nested folder browsing · PDF and DOCX syllabus import · whole-vault export · battery and long-session profiling · per-user sign-in so backend access is revocable per device</a:t>
            </a:r>
            <a:endParaRPr lang="en-US" sz="115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00">
        <p:fade thruBlk="1"/>
      </p:transition>
    </mc:Choice>
    <mc:Fallback xmlns="">
      <p:transition spd="med"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repeatCount="30000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18 0.014 0.032 0.034 0.028 0.050 C 0.024 0.066 0.004 0.060 -0.011 0.048 C -0.026 0.036 -0.020 0.013 0 0 Z E" pathEditMode="relative" ptsTypes="">
                                      <p:cBhvr>
                                        <p:cTn id="6" dur="19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repeatCount="300000" accel="50000" decel="5000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Motion origin="layout" path="M 0 0 C -0.022 0.016 -0.038 0.030 -0.031 0.048 C -0.024 0.066 -0.002 0.062 0.014 0.049 C 0.030 0.036 0.021 0.014 0 0 Z E" pathEditMode="relative" ptsTypes="">
                                      <p:cBhvr>
                                        <p:cTn id="8" dur="25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023360"/>
            <a:ext cx="4023360" cy="4023360"/>
          </a:xfrm>
          <a:prstGeom prst="ellipse">
            <a:avLst/>
          </a:prstGeom>
          <a:solidFill>
            <a:srgbClr val="2E3F86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-1005840"/>
            <a:ext cx="2926080" cy="2926080"/>
          </a:xfrm>
          <a:prstGeom prst="ellipse">
            <a:avLst/>
          </a:prstGeom>
          <a:solidFill>
            <a:srgbClr val="2E3F86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371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one sentence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66928" y="1783080"/>
            <a:ext cx="8778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lecture becomes a structured note as it happens — and the evidence behind every line survives.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66928" y="379476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 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66928" y="438912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chunk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355848" y="379476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32×32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355848" y="438912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grid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144768" y="379476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~$0.18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144768" y="438912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lecture-hour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933688" y="379476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118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8933688" y="438912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passing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66928" y="5394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·  Questions</a:t>
            </a:r>
            <a:endParaRPr lang="en-US" sz="15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00">
        <p:fade thruBlk="1"/>
      </p:transition>
    </mc:Choice>
    <mc:Fallback xmlns="">
      <p:transition spd="med"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repeatCount="30000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18 0.014 0.032 0.034 0.028 0.050 C 0.024 0.066 0.004 0.060 -0.011 0.048 C -0.026 0.036 -0.020 0.013 0 0 Z E" pathEditMode="relative" ptsTypes="">
                                      <p:cBhvr>
                                        <p:cTn id="6" dur="19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repeatCount="300000" accel="50000" decel="5000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Motion origin="layout" path="M 0 0 C -0.022 0.016 -0.038 0.030 -0.031 0.048 C -0.024 0.066 -0.002 0.062 0.014 0.049 C 0.030 0.036 0.021 0.014 0 0 Z E" pathEditMode="relative" ptsTypes="">
                                      <p:cBhvr>
                                        <p:cTn id="8" dur="25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2450</Words>
  <Application>Microsoft Office PowerPoint</Application>
  <PresentationFormat>Widescreen</PresentationFormat>
  <Paragraphs>294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VoxBox — Review 1: Scope</dc:title>
  <dc:subject>PptxGenJS Presentation</dc:subject>
  <dc:creator>Tejas</dc:creator>
  <cp:lastModifiedBy>tejas thimmaiah k k</cp:lastModifiedBy>
  <cp:revision>3</cp:revision>
  <dcterms:created xsi:type="dcterms:W3CDTF">2026-08-10T01:17:47Z</dcterms:created>
  <dcterms:modified xsi:type="dcterms:W3CDTF">2026-08-10T07:39:30Z</dcterms:modified>
</cp:coreProperties>
</file>