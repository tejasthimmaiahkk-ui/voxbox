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b1dc10b2974404" /><Relationship Type="http://schemas.openxmlformats.org/officeDocument/2006/relationships/extended-properties" Target="/docProps/app.xml" Id="R355535fc3ad04d61" /><Relationship Type="http://schemas.openxmlformats.org/officeDocument/2006/relationships/officeDocument" Target="/ppt/presentation.xml" Id="R2acddc8a850f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5eeaab30ae48df"/>
  </p:sldMasterIdLst>
  <p:notesMasterIdLst>
    <p:notesMasterId xmlns:r="http://schemas.openxmlformats.org/officeDocument/2006/relationships" r:id="Rcea134d2a3084f1b"/>
  </p:notesMasterIdLst>
  <p:sldIdLst>
    <p:sldId xmlns:r="http://schemas.openxmlformats.org/officeDocument/2006/relationships" id="256" r:id="R871fcc6b92384477"/>
    <p:sldId xmlns:r="http://schemas.openxmlformats.org/officeDocument/2006/relationships" id="257" r:id="Rd4e1ffd1596e4407"/>
    <p:sldId xmlns:r="http://schemas.openxmlformats.org/officeDocument/2006/relationships" id="258" r:id="R688609e651ce4614"/>
    <p:sldId xmlns:r="http://schemas.openxmlformats.org/officeDocument/2006/relationships" id="259" r:id="R80485d02c8f54432"/>
    <p:sldId xmlns:r="http://schemas.openxmlformats.org/officeDocument/2006/relationships" id="260" r:id="R7e00b1aec7594f33"/>
    <p:sldId xmlns:r="http://schemas.openxmlformats.org/officeDocument/2006/relationships" id="261" r:id="Rce2852bb4de5447c"/>
    <p:sldId xmlns:r="http://schemas.openxmlformats.org/officeDocument/2006/relationships" id="262" r:id="Rf3f07835d56d48cc"/>
    <p:sldId xmlns:r="http://schemas.openxmlformats.org/officeDocument/2006/relationships" id="263" r:id="R3dac75f260164a00"/>
    <p:sldId xmlns:r="http://schemas.openxmlformats.org/officeDocument/2006/relationships" id="264" r:id="R0efe5951f66e4b58"/>
    <p:sldId xmlns:r="http://schemas.openxmlformats.org/officeDocument/2006/relationships" id="265" r:id="R264db6cd09064d46"/>
    <p:sldId xmlns:r="http://schemas.openxmlformats.org/officeDocument/2006/relationships" id="266" r:id="Ra473d4ab0f0e48fa"/>
    <p:sldId xmlns:r="http://schemas.openxmlformats.org/officeDocument/2006/relationships" id="267" r:id="R06fd8038a5a84f65"/>
    <p:sldId xmlns:r="http://schemas.openxmlformats.org/officeDocument/2006/relationships" id="268" r:id="Rf9ecf592c3c1432a"/>
    <p:sldId xmlns:r="http://schemas.openxmlformats.org/officeDocument/2006/relationships" id="269" r:id="R4830d805cd204542"/>
    <p:sldId xmlns:r="http://schemas.openxmlformats.org/officeDocument/2006/relationships" id="270" r:id="R88bd62ff6c574cb0"/>
    <p:sldId xmlns:r="http://schemas.openxmlformats.org/officeDocument/2006/relationships" id="271" r:id="R1808708a350941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9dedab0b24f7e" /><Relationship Type="http://schemas.openxmlformats.org/officeDocument/2006/relationships/slideMaster" Target="/ppt/slideMasters/slideMaster1.xml" Id="R545eeaab30ae48df" /><Relationship Type="http://schemas.openxmlformats.org/officeDocument/2006/relationships/notesMaster" Target="/ppt/notesMasters/notesMaster1.xml" Id="Rcea134d2a3084f1b" /><Relationship Type="http://schemas.openxmlformats.org/officeDocument/2006/relationships/presProps" Target="/ppt/presProps.xml" Id="R1015d6dad10742ae" /><Relationship Type="http://schemas.openxmlformats.org/officeDocument/2006/relationships/tableStyles" Target="/ppt/tableStyles.xml" Id="Rc70f28690a854e4d" /><Relationship Type="http://schemas.openxmlformats.org/officeDocument/2006/relationships/slide" Target="/ppt/slides/slide1.xml" Id="R871fcc6b92384477" /><Relationship Type="http://schemas.openxmlformats.org/officeDocument/2006/relationships/slide" Target="/ppt/slides/slide2.xml" Id="Rd4e1ffd1596e4407" /><Relationship Type="http://schemas.openxmlformats.org/officeDocument/2006/relationships/slide" Target="/ppt/slides/slide3.xml" Id="R688609e651ce4614" /><Relationship Type="http://schemas.openxmlformats.org/officeDocument/2006/relationships/slide" Target="/ppt/slides/slide4.xml" Id="R80485d02c8f54432" /><Relationship Type="http://schemas.openxmlformats.org/officeDocument/2006/relationships/slide" Target="/ppt/slides/slide5.xml" Id="R7e00b1aec7594f33" /><Relationship Type="http://schemas.openxmlformats.org/officeDocument/2006/relationships/slide" Target="/ppt/slides/slide6.xml" Id="Rce2852bb4de5447c" /><Relationship Type="http://schemas.openxmlformats.org/officeDocument/2006/relationships/slide" Target="/ppt/slides/slide7.xml" Id="Rf3f07835d56d48cc" /><Relationship Type="http://schemas.openxmlformats.org/officeDocument/2006/relationships/slide" Target="/ppt/slides/slide8.xml" Id="R3dac75f260164a00" /><Relationship Type="http://schemas.openxmlformats.org/officeDocument/2006/relationships/slide" Target="/ppt/slides/slide9.xml" Id="R0efe5951f66e4b58" /><Relationship Type="http://schemas.openxmlformats.org/officeDocument/2006/relationships/slide" Target="/ppt/slides/slide10.xml" Id="R264db6cd09064d46" /><Relationship Type="http://schemas.openxmlformats.org/officeDocument/2006/relationships/slide" Target="/ppt/slides/slide11.xml" Id="Ra473d4ab0f0e48fa" /><Relationship Type="http://schemas.openxmlformats.org/officeDocument/2006/relationships/slide" Target="/ppt/slides/slide12.xml" Id="R06fd8038a5a84f65" /><Relationship Type="http://schemas.openxmlformats.org/officeDocument/2006/relationships/slide" Target="/ppt/slides/slide13.xml" Id="Rf9ecf592c3c1432a" /><Relationship Type="http://schemas.openxmlformats.org/officeDocument/2006/relationships/slide" Target="/ppt/slides/slide14.xml" Id="R4830d805cd204542" /><Relationship Type="http://schemas.openxmlformats.org/officeDocument/2006/relationships/slide" Target="/ppt/slides/slide15.xml" Id="R88bd62ff6c574cb0" /><Relationship Type="http://schemas.openxmlformats.org/officeDocument/2006/relationships/slide" Target="/ppt/slides/slide16.xml" Id="R1808708a350941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a2307b91ba41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cfc3272f104a0a" /><Relationship Type="http://schemas.openxmlformats.org/officeDocument/2006/relationships/notesMaster" Target="/ppt/notesMasters/notesMaster1.xml" Id="Rcc8ab96ea8ea4a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65321bbc4244c0" /><Relationship Type="http://schemas.openxmlformats.org/officeDocument/2006/relationships/notesMaster" Target="/ppt/notesMasters/notesMaster1.xml" Id="R09ae7282e84b4f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233a6f85f74b64" /><Relationship Type="http://schemas.openxmlformats.org/officeDocument/2006/relationships/notesMaster" Target="/ppt/notesMasters/notesMaster1.xml" Id="R55b8675b91fa41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f00d5343e84a1b" /><Relationship Type="http://schemas.openxmlformats.org/officeDocument/2006/relationships/notesMaster" Target="/ppt/notesMasters/notesMaster1.xml" Id="R65a2aef599eb44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1489b8387847e5" /><Relationship Type="http://schemas.openxmlformats.org/officeDocument/2006/relationships/notesMaster" Target="/ppt/notesMasters/notesMaster1.xml" Id="Rddd53ecfdbc34b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fc7842be1e44b8" /><Relationship Type="http://schemas.openxmlformats.org/officeDocument/2006/relationships/notesMaster" Target="/ppt/notesMasters/notesMaster1.xml" Id="R1f57edb7b37542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037e360f8449bd" /><Relationship Type="http://schemas.openxmlformats.org/officeDocument/2006/relationships/notesMaster" Target="/ppt/notesMasters/notesMaster1.xml" Id="Rd1fa9fa8f1a944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3e635dee854afa" /><Relationship Type="http://schemas.openxmlformats.org/officeDocument/2006/relationships/notesMaster" Target="/ppt/notesMasters/notesMaster1.xml" Id="R8ff1fef68ba64b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e13aac33dc4f0a" /><Relationship Type="http://schemas.openxmlformats.org/officeDocument/2006/relationships/notesMaster" Target="/ppt/notesMasters/notesMaster1.xml" Id="R67ff0eda9ceb4d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6d81e92fa8431a" /><Relationship Type="http://schemas.openxmlformats.org/officeDocument/2006/relationships/notesMaster" Target="/ppt/notesMasters/notesMaster1.xml" Id="Reeea1ad68de14b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e8451210294850" /><Relationship Type="http://schemas.openxmlformats.org/officeDocument/2006/relationships/notesMaster" Target="/ppt/notesMasters/notesMaster1.xml" Id="Rffa0591e5dc94d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9794faabd34caf" /><Relationship Type="http://schemas.openxmlformats.org/officeDocument/2006/relationships/notesMaster" Target="/ppt/notesMasters/notesMaster1.xml" Id="R4c7a72e3169e4f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c2537b05074cdb" /><Relationship Type="http://schemas.openxmlformats.org/officeDocument/2006/relationships/notesMaster" Target="/ppt/notesMasters/notesMaster1.xml" Id="Rd342a51fd45743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5f649e29c046d8" /><Relationship Type="http://schemas.openxmlformats.org/officeDocument/2006/relationships/notesMaster" Target="/ppt/notesMasters/notesMaster1.xml" Id="R6c5e7bec1b9641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8d71ce379d43df" /><Relationship Type="http://schemas.openxmlformats.org/officeDocument/2006/relationships/notesMaster" Target="/ppt/notesMasters/notesMaster1.xml" Id="R55af0873e59a49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64f0024af94b98" /><Relationship Type="http://schemas.openxmlformats.org/officeDocument/2006/relationships/notesMaster" Target="/ppt/notesMasters/notesMaster1.xml" Id="Refc44eea8a6d4a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6f6bd47e9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9c141dc2fa4ba0" /><Relationship Type="http://schemas.openxmlformats.org/officeDocument/2006/relationships/slideLayout" Target="/ppt/slideLayouts/slideLayout1.xml" Id="R34d0c9f6d16446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0c9f6d16446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93b4333a04f60" /><Relationship Type="http://schemas.openxmlformats.org/officeDocument/2006/relationships/notesSlide" Target="/ppt/notesSlides/notesSlide1.xml" Id="R35be8066fa7643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4e5557e5541db" /><Relationship Type="http://schemas.openxmlformats.org/officeDocument/2006/relationships/notesSlide" Target="/ppt/notesSlides/notesSlide2.xml" Id="R9d2fb1b39bfc4e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25d450a584f53" /><Relationship Type="http://schemas.openxmlformats.org/officeDocument/2006/relationships/notesSlide" Target="/ppt/notesSlides/notesSlide3.xml" Id="R306d13abb1744f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bfa4eace9402d" /><Relationship Type="http://schemas.openxmlformats.org/officeDocument/2006/relationships/notesSlide" Target="/ppt/notesSlides/notesSlide4.xml" Id="R27c9b638da7b42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fe630b4944b99" /><Relationship Type="http://schemas.openxmlformats.org/officeDocument/2006/relationships/notesSlide" Target="/ppt/notesSlides/notesSlide5.xml" Id="R3a2eaa7d71a9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2fe78444c4763" /><Relationship Type="http://schemas.openxmlformats.org/officeDocument/2006/relationships/notesSlide" Target="/ppt/notesSlides/notesSlide6.xml" Id="R129db15aebf24a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cc99aebae42a6" /><Relationship Type="http://schemas.openxmlformats.org/officeDocument/2006/relationships/notesSlide" Target="/ppt/notesSlides/notesSlide7.xml" Id="Re1c2f91c167f45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012fd8d304692" /><Relationship Type="http://schemas.openxmlformats.org/officeDocument/2006/relationships/notesSlide" Target="/ppt/notesSlides/notesSlide8.xml" Id="R29c5aaeb8fe441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2351d45f6450c" /><Relationship Type="http://schemas.openxmlformats.org/officeDocument/2006/relationships/notesSlide" Target="/ppt/notesSlides/notesSlide9.xml" Id="R00f8a4efc06648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e06ec8b3a42fd" /><Relationship Type="http://schemas.openxmlformats.org/officeDocument/2006/relationships/notesSlide" Target="/ppt/notesSlides/notesSlide10.xml" Id="R1cad0bb26ea44f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c5920cf5142b0" /><Relationship Type="http://schemas.openxmlformats.org/officeDocument/2006/relationships/notesSlide" Target="/ppt/notesSlides/notesSlide11.xml" Id="R9ef57574c8ca46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0d8ee7dd84ee7" /><Relationship Type="http://schemas.openxmlformats.org/officeDocument/2006/relationships/notesSlide" Target="/ppt/notesSlides/notesSlide12.xml" Id="R75cb1d1bbbb343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9fad9975d4ab3" /><Relationship Type="http://schemas.openxmlformats.org/officeDocument/2006/relationships/notesSlide" Target="/ppt/notesSlides/notesSlide13.xml" Id="R8beea3597a404d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b54d5728e414e" /><Relationship Type="http://schemas.openxmlformats.org/officeDocument/2006/relationships/notesSlide" Target="/ppt/notesSlides/notesSlide14.xml" Id="R009638cde14749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7fd5ab6d641f5" /><Relationship Type="http://schemas.openxmlformats.org/officeDocument/2006/relationships/notesSlide" Target="/ppt/notesSlides/notesSlide15.xml" Id="R4e9aae42770e4a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c1e8ea3d34a0a" /><Relationship Type="http://schemas.openxmlformats.org/officeDocument/2006/relationships/notesSlide" Target="/ppt/notesSlides/notesSlide16.xml" Id="Rd003ba92188a4d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F49E8F4-8EB7-45A3-A10E-41D0182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VoxBox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multimodal notes from voice and board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C7FFABD-3FBB-4B01-936B-8A122E2C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Android • evidence-preserving • Markdown-first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2 • implementation and validation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F2EEC8A-F914-4396-B833-654A743D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24BCAPJ • REVIEW MEETING 2</a:t>
            </a:r>
          </a:p>
        </p:txBody>
      </p:sp>
    </p:spTree>
    <p:extLst>
      <p:ext uri="{BB962C8B-B14F-4D97-AF65-F5344CB8AC3E}">
        <p14:creationId xmlns:p14="http://schemas.microsoft.com/office/powerpoint/2010/main" val="13530177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112B646-9150-4C88-95EA-175271E3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product promise: leave class with notes—not a raw recording</a:t>
            </a:r>
          </a:p>
        </p:txBody>
      </p:sp>
      <p:sp>
        <p:nvSpPr>
          <p:cNvPr id="2" name="problem-subtitle">
            <a:extLst xmlns:a="http://schemas.openxmlformats.org/drawingml/2006/main">
              <a:ext uri="{FF2B5EF4-FFF2-40B4-BE49-F238E27FC236}">
                <a16:creationId xmlns:a16="http://schemas.microsoft.com/office/drawing/2014/main" id="{52B3ED06-DA13-4F57-87D7-8A6F248E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Voice and board evidence become a structured, editable Markdown note while the session stays visible.</a:t>
            </a:r>
          </a:p>
        </p:txBody>
      </p:sp>
      <p:sp>
        <p:nvSpPr>
          <p:cNvPr id="3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DF41098B-3FF4-415E-B8A1-396DFC7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048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E8C66FEB-0B82-4079-AA0C-164E34A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429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E30CE96A-7322-4759-A5EF-53F1740B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02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EF6A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F6A6A"/>
                </a:solidFill>
                <a:latin typeface="Helvetica Neue"/>
                <a:ea typeface="Helvetica Neue"/>
                <a:cs typeface="Helvetica Neue"/>
              </a:rPr>
              <a:t>RAW INPUT</a:t>
            </a:r>
          </a:p>
        </p:txBody>
      </p:sp>
      <p:sp>
        <p:nvSpPr>
          <p:cNvPr id="6" name="problem-flat">
            <a:extLst xmlns:a="http://schemas.openxmlformats.org/drawingml/2006/main">
              <a:ext uri="{FF2B5EF4-FFF2-40B4-BE49-F238E27FC236}">
                <a16:creationId xmlns:a16="http://schemas.microsoft.com/office/drawing/2014/main" id="{7EE2C3CD-8AB5-431D-84BE-522692B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95550"/>
            <a:ext cx="4305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Teacher speech + room noise + board frames + equations + diagrams + corrections + examples...</a:t>
            </a:r>
          </a:p>
        </p:txBody>
      </p:sp>
      <p:sp>
        <p:nvSpPr>
          <p:cNvPr id="7" name="problem-left-cost">
            <a:extLst xmlns:a="http://schemas.openxmlformats.org/drawingml/2006/main">
              <a:ext uri="{FF2B5EF4-FFF2-40B4-BE49-F238E27FC236}">
                <a16:creationId xmlns:a16="http://schemas.microsoft.com/office/drawing/2014/main" id="{E191F047-A1F5-45A9-A919-6736409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33950"/>
            <a:ext cx="430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Ordinary capture shifts all cleanup, formatting and cross-checking to the student.</a:t>
            </a:r>
          </a:p>
        </p:txBody>
      </p:sp>
      <p:sp>
        <p:nvSpPr>
          <p:cNvPr id="8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72163585-16DF-41C3-BA2D-EDBE6E50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OPPORTUNITY</a:t>
            </a:r>
          </a:p>
        </p:txBody>
      </p:sp>
      <p:sp>
        <p:nvSpPr>
          <p:cNvPr id="9" name="problem-h1">
            <a:extLst xmlns:a="http://schemas.openxmlformats.org/drawingml/2006/main">
              <a:ext uri="{FF2B5EF4-FFF2-40B4-BE49-F238E27FC236}">
                <a16:creationId xmlns:a16="http://schemas.microsoft.com/office/drawing/2014/main" id="{A90F749E-5F16-4DDD-82F6-C28CDBB2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4191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Runnable class notes</a:t>
            </a:r>
          </a:p>
        </p:txBody>
      </p:sp>
      <p:sp>
        <p:nvSpPr>
          <p:cNvPr id="10" name="problem-paragraph">
            <a:extLst xmlns:a="http://schemas.openxmlformats.org/drawingml/2006/main">
              <a:ext uri="{FF2B5EF4-FFF2-40B4-BE49-F238E27FC236}">
                <a16:creationId xmlns:a16="http://schemas.microsoft.com/office/drawing/2014/main" id="{42DA12AA-A405-45E3-850C-7A412C1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19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Headings, bullets, equations and visual evidence.</a:t>
            </a:r>
          </a:p>
        </p:txBody>
      </p:sp>
      <p:sp>
        <p:nvSpPr>
          <p:cNvPr id="11" name="problem-list">
            <a:extLst xmlns:a="http://schemas.openxmlformats.org/drawingml/2006/main">
              <a:ext uri="{FF2B5EF4-FFF2-40B4-BE49-F238E27FC236}">
                <a16:creationId xmlns:a16="http://schemas.microsoft.com/office/drawing/2014/main" id="{4D982CCE-2787-487E-83BA-7EB8922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000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Key concepts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Corrections + warnings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Cropped diagrams</a:t>
            </a:r>
          </a:p>
        </p:txBody>
      </p:sp>
      <p:sp>
        <p:nvSpPr>
          <p:cNvPr id="12" name="problem-right-win">
            <a:extLst xmlns:a="http://schemas.openxmlformats.org/drawingml/2006/main">
              <a:ext uri="{FF2B5EF4-FFF2-40B4-BE49-F238E27FC236}">
                <a16:creationId xmlns:a16="http://schemas.microsoft.com/office/drawing/2014/main" id="{281B3098-F9C4-4C29-BEB6-F02DC782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81575"/>
            <a:ext cx="428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Markdown stays editable, resumable and portable to Obsidian.</a:t>
            </a:r>
          </a:p>
        </p:txBody>
      </p:sp>
      <p:cxnSp>
        <p:nvCxnSpPr>
          <p:cNvPr id="53" name="problem-arrow"/>
          <p:cNvCxnSpPr/>
          <p:nvPr/>
        </p:nvCxnSpPr>
        <p:spPr>
          <a:xfrm xmlns:a="http://schemas.openxmlformats.org/drawingml/2006/main">
            <a:off x="5505450" y="3562350"/>
            <a:ext cx="7429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4" name="problem-footer">
            <a:extLst xmlns:a="http://schemas.openxmlformats.org/drawingml/2006/main">
              <a:ext uri="{FF2B5EF4-FFF2-40B4-BE49-F238E27FC236}">
                <a16:creationId xmlns:a16="http://schemas.microsoft.com/office/drawing/2014/main" id="{B013DCCA-324F-43E6-9710-5E40DF83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07803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peech-reality-title">
            <a:extLst xmlns:a="http://schemas.openxmlformats.org/drawingml/2006/main">
              <a:ext uri="{FF2B5EF4-FFF2-40B4-BE49-F238E27FC236}">
                <a16:creationId xmlns:a16="http://schemas.microsoft.com/office/drawing/2014/main" id="{E703069B-D1B3-4B7F-A4FC-AB68010E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capture modes share one evidence-preserving note engine</a:t>
            </a:r>
          </a:p>
        </p:txBody>
      </p:sp>
      <p:sp>
        <p:nvSpPr>
          <p:cNvPr id="2" name="speech-reality-subtitle">
            <a:extLst xmlns:a="http://schemas.openxmlformats.org/drawingml/2006/main">
              <a:ext uri="{FF2B5EF4-FFF2-40B4-BE49-F238E27FC236}">
                <a16:creationId xmlns:a16="http://schemas.microsoft.com/office/drawing/2014/main" id="{79B64266-C639-4FFB-B3CB-A00C8E15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Audio stays active in video mode; users choose how aggressively evidence becomes notes.</a:t>
            </a:r>
          </a:p>
        </p:txBody>
      </p:sp>
      <p:sp>
        <p:nvSpPr>
          <p:cNvPr id="3" name="speech-card-1">
            <a:extLst xmlns:a="http://schemas.openxmlformats.org/drawingml/2006/main">
              <a:ext uri="{FF2B5EF4-FFF2-40B4-BE49-F238E27FC236}">
                <a16:creationId xmlns:a16="http://schemas.microsoft.com/office/drawing/2014/main" id="{0F35A0B7-E762-4B93-9265-A432230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peech-card-2">
            <a:extLst xmlns:a="http://schemas.openxmlformats.org/drawingml/2006/main">
              <a:ext uri="{FF2B5EF4-FFF2-40B4-BE49-F238E27FC236}">
                <a16:creationId xmlns:a16="http://schemas.microsoft.com/office/drawing/2014/main" id="{97538CCB-92B1-4D6E-9C70-96C3E057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peech-card-3">
            <a:extLst xmlns:a="http://schemas.openxmlformats.org/drawingml/2006/main">
              <a:ext uri="{FF2B5EF4-FFF2-40B4-BE49-F238E27FC236}">
                <a16:creationId xmlns:a16="http://schemas.microsoft.com/office/drawing/2014/main" id="{CA0800DE-97C0-41F0-AD16-81F4E4CE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peech-card-4">
            <a:extLst xmlns:a="http://schemas.openxmlformats.org/drawingml/2006/main">
              <a:ext uri="{FF2B5EF4-FFF2-40B4-BE49-F238E27FC236}">
                <a16:creationId xmlns:a16="http://schemas.microsoft.com/office/drawing/2014/main" id="{DC285752-D9DC-43FA-AEB5-9864605E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14500"/>
            <a:ext cx="2562225" cy="3667125"/>
          </a:xfrm>
          <a:prstGeom xmlns:a="http://schemas.openxmlformats.org/drawingml/2006/main" prst="roundRect">
            <a:avLst>
              <a:gd name="adj" fmla="val 297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speech-n1">
            <a:extLst xmlns:a="http://schemas.openxmlformats.org/drawingml/2006/main">
              <a:ext uri="{FF2B5EF4-FFF2-40B4-BE49-F238E27FC236}">
                <a16:creationId xmlns:a16="http://schemas.microsoft.com/office/drawing/2014/main" id="{5E14867E-8C6E-4454-945A-9020933E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speech-t1">
            <a:extLst xmlns:a="http://schemas.openxmlformats.org/drawingml/2006/main">
              <a:ext uri="{FF2B5EF4-FFF2-40B4-BE49-F238E27FC236}">
                <a16:creationId xmlns:a16="http://schemas.microsoft.com/office/drawing/2014/main" id="{27D6DD76-8DE0-4A8F-A2B8-5183BE70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Voice mode</a:t>
            </a:r>
          </a:p>
        </p:txBody>
      </p:sp>
      <p:sp>
        <p:nvSpPr>
          <p:cNvPr id="9" name="speech-b1">
            <a:extLst xmlns:a="http://schemas.openxmlformats.org/drawingml/2006/main">
              <a:ext uri="{FF2B5EF4-FFF2-40B4-BE49-F238E27FC236}">
                <a16:creationId xmlns:a16="http://schemas.microsoft.com/office/drawing/2014/main" id="{1CCECB33-DA0E-4131-A259-4A4D2728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Foreground audio is chunked, transcribed and added until the user presses Stop.</a:t>
            </a:r>
          </a:p>
        </p:txBody>
      </p:sp>
      <p:sp>
        <p:nvSpPr>
          <p:cNvPr id="10" name="speech-n2">
            <a:extLst xmlns:a="http://schemas.openxmlformats.org/drawingml/2006/main">
              <a:ext uri="{FF2B5EF4-FFF2-40B4-BE49-F238E27FC236}">
                <a16:creationId xmlns:a16="http://schemas.microsoft.com/office/drawing/2014/main" id="{57C2A6B6-53E0-4C11-A37A-5419A72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speech-t2">
            <a:extLst xmlns:a="http://schemas.openxmlformats.org/drawingml/2006/main">
              <a:ext uri="{FF2B5EF4-FFF2-40B4-BE49-F238E27FC236}">
                <a16:creationId xmlns:a16="http://schemas.microsoft.com/office/drawing/2014/main" id="{669B3C14-4A6B-4C17-87F6-D307855A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Video mode</a:t>
            </a:r>
          </a:p>
        </p:txBody>
      </p:sp>
      <p:sp>
        <p:nvSpPr>
          <p:cNvPr id="12" name="speech-b2">
            <a:extLst xmlns:a="http://schemas.openxmlformats.org/drawingml/2006/main">
              <a:ext uri="{FF2B5EF4-FFF2-40B4-BE49-F238E27FC236}">
                <a16:creationId xmlns:a16="http://schemas.microsoft.com/office/drawing/2014/main" id="{40A2AD59-EEE2-4B1D-A757-DAAAC77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camera samples the board at an adjustable cadence while audio continues.</a:t>
            </a:r>
          </a:p>
        </p:txBody>
      </p:sp>
      <p:sp>
        <p:nvSpPr>
          <p:cNvPr id="13" name="speech-n3">
            <a:extLst xmlns:a="http://schemas.openxmlformats.org/drawingml/2006/main">
              <a:ext uri="{FF2B5EF4-FFF2-40B4-BE49-F238E27FC236}">
                <a16:creationId xmlns:a16="http://schemas.microsoft.com/office/drawing/2014/main" id="{3B4218BC-818B-4280-BAAA-7CDF38D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peech-t3">
            <a:extLst xmlns:a="http://schemas.openxmlformats.org/drawingml/2006/main">
              <a:ext uri="{FF2B5EF4-FFF2-40B4-BE49-F238E27FC236}">
                <a16:creationId xmlns:a16="http://schemas.microsoft.com/office/drawing/2014/main" id="{50B9DA90-BDA4-4FD8-83E0-00F6103B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Runnable</a:t>
            </a:r>
          </a:p>
        </p:txBody>
      </p:sp>
      <p:sp>
        <p:nvSpPr>
          <p:cNvPr id="15" name="speech-b3">
            <a:extLst xmlns:a="http://schemas.openxmlformats.org/drawingml/2006/main">
              <a:ext uri="{FF2B5EF4-FFF2-40B4-BE49-F238E27FC236}">
                <a16:creationId xmlns:a16="http://schemas.microsoft.com/office/drawing/2014/main" id="{246DB67F-83A9-4100-83D8-BCF602B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organizes concepts, removes tangents and flags evidence-backed corrections.</a:t>
            </a:r>
          </a:p>
        </p:txBody>
      </p:sp>
      <p:sp>
        <p:nvSpPr>
          <p:cNvPr id="16" name="speech-n4">
            <a:extLst xmlns:a="http://schemas.openxmlformats.org/drawingml/2006/main">
              <a:ext uri="{FF2B5EF4-FFF2-40B4-BE49-F238E27FC236}">
                <a16:creationId xmlns:a16="http://schemas.microsoft.com/office/drawing/2014/main" id="{6E080EB1-00CB-4780-B955-E4F69FF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speech-t4">
            <a:extLst xmlns:a="http://schemas.openxmlformats.org/drawingml/2006/main">
              <a:ext uri="{FF2B5EF4-FFF2-40B4-BE49-F238E27FC236}">
                <a16:creationId xmlns:a16="http://schemas.microsoft.com/office/drawing/2014/main" id="{B7E158DE-B91C-4F44-834C-6A62C31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Verbatim</a:t>
            </a:r>
          </a:p>
        </p:txBody>
      </p:sp>
      <p:sp>
        <p:nvSpPr>
          <p:cNvPr id="18" name="speech-b4">
            <a:extLst xmlns:a="http://schemas.openxmlformats.org/drawingml/2006/main">
              <a:ext uri="{FF2B5EF4-FFF2-40B4-BE49-F238E27FC236}">
                <a16:creationId xmlns:a16="http://schemas.microsoft.com/office/drawing/2014/main" id="{1248D2A0-B3C3-4508-9ECA-3FFFE86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transcript mode preserves every utterance with minimal transformation.</a:t>
            </a:r>
          </a:p>
        </p:txBody>
      </p:sp>
      <p:sp>
        <p:nvSpPr>
          <p:cNvPr id="19" name="speech-foot">
            <a:extLst xmlns:a="http://schemas.openxmlformats.org/drawingml/2006/main">
              <a:ext uri="{FF2B5EF4-FFF2-40B4-BE49-F238E27FC236}">
                <a16:creationId xmlns:a16="http://schemas.microsoft.com/office/drawing/2014/main" id="{6B1C70BA-90EA-49E5-A8BE-E5515374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00725"/>
            <a:ext cx="1095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Folders, recent notes, local syllabus context and Markdown export apply to both modes.</a:t>
            </a:r>
          </a:p>
        </p:txBody>
      </p:sp>
      <p:sp>
        <p:nvSpPr>
          <p:cNvPr id="20" name="speech-reality-footer">
            <a:extLst xmlns:a="http://schemas.openxmlformats.org/drawingml/2006/main">
              <a:ext uri="{FF2B5EF4-FFF2-40B4-BE49-F238E27FC236}">
                <a16:creationId xmlns:a16="http://schemas.microsoft.com/office/drawing/2014/main" id="{2AC15F0E-8C16-448E-B2C5-EE02126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2116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olution-flow-title">
            <a:extLst xmlns:a="http://schemas.openxmlformats.org/drawingml/2006/main">
              <a:ext uri="{FF2B5EF4-FFF2-40B4-BE49-F238E27FC236}">
                <a16:creationId xmlns:a16="http://schemas.microsoft.com/office/drawing/2014/main" id="{F49393C3-7630-49E4-AF4F-FC9E75C5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bounded stages turn live classroom evidence into one note</a:t>
            </a:r>
          </a:p>
        </p:txBody>
      </p:sp>
      <p:sp>
        <p:nvSpPr>
          <p:cNvPr id="2" name="solution-flow-subtitle">
            <a:extLst xmlns:a="http://schemas.openxmlformats.org/drawingml/2006/main">
              <a:ext uri="{FF2B5EF4-FFF2-40B4-BE49-F238E27FC236}">
                <a16:creationId xmlns:a16="http://schemas.microsoft.com/office/drawing/2014/main" id="{6238B2BC-9006-45B2-BD1D-8B123F2B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Each step is stored or recoverable before temporary media is cleaned.</a:t>
            </a:r>
          </a:p>
        </p:txBody>
      </p:sp>
      <p:sp>
        <p:nvSpPr>
          <p:cNvPr id="3" name="flow-0">
            <a:extLst xmlns:a="http://schemas.openxmlformats.org/drawingml/2006/main">
              <a:ext uri="{FF2B5EF4-FFF2-40B4-BE49-F238E27FC236}">
                <a16:creationId xmlns:a16="http://schemas.microsoft.com/office/drawing/2014/main" id="{238D24C8-6121-436C-B21B-6D3CC64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low-num-0">
            <a:extLst xmlns:a="http://schemas.openxmlformats.org/drawingml/2006/main">
              <a:ext uri="{FF2B5EF4-FFF2-40B4-BE49-F238E27FC236}">
                <a16:creationId xmlns:a16="http://schemas.microsoft.com/office/drawing/2014/main" id="{888DC9DD-4153-4FC1-BAAA-766A29B7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DE5F9170-2A7E-4086-997F-4D0CB300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6" name="flow-body-0">
            <a:extLst xmlns:a="http://schemas.openxmlformats.org/drawingml/2006/main">
              <a:ext uri="{FF2B5EF4-FFF2-40B4-BE49-F238E27FC236}">
                <a16:creationId xmlns:a16="http://schemas.microsoft.com/office/drawing/2014/main" id="{08B5F5E7-A677-4EB4-9DFD-59A62C6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20 s audio chunks + timed board frames</a:t>
            </a:r>
          </a:p>
        </p:txBody>
      </p:sp>
      <p:cxnSp>
        <p:nvCxnSpPr>
          <p:cNvPr id="80" name="flow-connector-0"/>
          <p:cNvCxnSpPr/>
          <p:nvPr/>
        </p:nvCxnSpPr>
        <p:spPr>
          <a:xfrm xmlns:a="http://schemas.openxmlformats.org/drawingml/2006/main">
            <a:off x="234315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E8930BE2-3466-40B6-AEE4-3DBF22D0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flow-num-1">
            <a:extLst xmlns:a="http://schemas.openxmlformats.org/drawingml/2006/main">
              <a:ext uri="{FF2B5EF4-FFF2-40B4-BE49-F238E27FC236}">
                <a16:creationId xmlns:a16="http://schemas.microsoft.com/office/drawing/2014/main" id="{C9CD013B-E380-4B50-A35F-509FF14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33BCCEEE-C62A-49A3-8C43-46E5564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Filter</a:t>
            </a:r>
          </a:p>
        </p:txBody>
      </p:sp>
      <p:sp>
        <p:nvSpPr>
          <p:cNvPr id="11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6119C55-C9B5-4717-BD6A-DDFAB8B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Noise controls + exposure-aware frame diff</a:t>
            </a:r>
          </a:p>
        </p:txBody>
      </p:sp>
      <p:cxnSp>
        <p:nvCxnSpPr>
          <p:cNvPr id="85" name="flow-connector-1"/>
          <p:cNvCxnSpPr/>
          <p:nvPr/>
        </p:nvCxnSpPr>
        <p:spPr>
          <a:xfrm xmlns:a="http://schemas.openxmlformats.org/drawingml/2006/main">
            <a:off x="468630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3A78B601-7CF8-4F10-8BCA-0D53898A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flow-num-2">
            <a:extLst xmlns:a="http://schemas.openxmlformats.org/drawingml/2006/main">
              <a:ext uri="{FF2B5EF4-FFF2-40B4-BE49-F238E27FC236}">
                <a16:creationId xmlns:a16="http://schemas.microsoft.com/office/drawing/2014/main" id="{B5EECD85-DC3C-442B-B451-98CADC2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98288CF-FF8D-467A-A1A7-7C14F634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92A690F-5B8C-4DBE-8F6E-D32D7070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Diarized speech, OCR, equations + regions</a:t>
            </a:r>
          </a:p>
        </p:txBody>
      </p:sp>
      <p:cxnSp>
        <p:nvCxnSpPr>
          <p:cNvPr id="90" name="flow-connector-2"/>
          <p:cNvCxnSpPr/>
          <p:nvPr/>
        </p:nvCxnSpPr>
        <p:spPr>
          <a:xfrm xmlns:a="http://schemas.openxmlformats.org/drawingml/2006/main">
            <a:off x="702945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8" name="flow-3">
            <a:extLst xmlns:a="http://schemas.openxmlformats.org/drawingml/2006/main">
              <a:ext uri="{FF2B5EF4-FFF2-40B4-BE49-F238E27FC236}">
                <a16:creationId xmlns:a16="http://schemas.microsoft.com/office/drawing/2014/main" id="{57A50B57-A404-4904-8694-6C64257A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low-num-3">
            <a:extLst xmlns:a="http://schemas.openxmlformats.org/drawingml/2006/main">
              <a:ext uri="{FF2B5EF4-FFF2-40B4-BE49-F238E27FC236}">
                <a16:creationId xmlns:a16="http://schemas.microsoft.com/office/drawing/2014/main" id="{1981B120-2B4B-4E9C-877E-D295F573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40CC718F-AF18-4D7C-9312-43A5035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Refine</a:t>
            </a:r>
          </a:p>
        </p:txBody>
      </p:sp>
      <p:sp>
        <p:nvSpPr>
          <p:cNvPr id="21" name="flow-body-3">
            <a:extLst xmlns:a="http://schemas.openxmlformats.org/drawingml/2006/main">
              <a:ext uri="{FF2B5EF4-FFF2-40B4-BE49-F238E27FC236}">
                <a16:creationId xmlns:a16="http://schemas.microsoft.com/office/drawing/2014/main" id="{DFA225A6-7599-486E-A852-6BC0C55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Runnable or verbatim Markdown + context</a:t>
            </a:r>
          </a:p>
        </p:txBody>
      </p:sp>
      <p:cxnSp>
        <p:nvCxnSpPr>
          <p:cNvPr id="95" name="flow-connector-3"/>
          <p:cNvCxnSpPr/>
          <p:nvPr/>
        </p:nvCxnSpPr>
        <p:spPr>
          <a:xfrm xmlns:a="http://schemas.openxmlformats.org/drawingml/2006/main">
            <a:off x="937260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3" name="flow-4">
            <a:extLst xmlns:a="http://schemas.openxmlformats.org/drawingml/2006/main">
              <a:ext uri="{FF2B5EF4-FFF2-40B4-BE49-F238E27FC236}">
                <a16:creationId xmlns:a16="http://schemas.microsoft.com/office/drawing/2014/main" id="{97959256-F9BF-4EB6-A760-784ABCFA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flow-num-4">
            <a:extLst xmlns:a="http://schemas.openxmlformats.org/drawingml/2006/main">
              <a:ext uri="{FF2B5EF4-FFF2-40B4-BE49-F238E27FC236}">
                <a16:creationId xmlns:a16="http://schemas.microsoft.com/office/drawing/2014/main" id="{3CA744F8-B45F-4022-B30A-CDC854CB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B9E31926-F529-4F0E-AD0D-8BCE3A44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Commit</a:t>
            </a:r>
          </a:p>
        </p:txBody>
      </p:sp>
      <p:sp>
        <p:nvSpPr>
          <p:cNvPr id="26" name="flow-body-4">
            <a:extLst xmlns:a="http://schemas.openxmlformats.org/drawingml/2006/main">
              <a:ext uri="{FF2B5EF4-FFF2-40B4-BE49-F238E27FC236}">
                <a16:creationId xmlns:a16="http://schemas.microsoft.com/office/drawing/2014/main" id="{51104873-57CF-4B66-8467-676F642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Room revisions, provenance + assets</a:t>
            </a:r>
          </a:p>
        </p:txBody>
      </p:sp>
      <p:sp>
        <p:nvSpPr>
          <p:cNvPr id="27" name="flow-core">
            <a:extLst xmlns:a="http://schemas.openxmlformats.org/drawingml/2006/main">
              <a:ext uri="{FF2B5EF4-FFF2-40B4-BE49-F238E27FC236}">
                <a16:creationId xmlns:a16="http://schemas.microsoft.com/office/drawing/2014/main" id="{B05CF5F8-81FD-45E5-B36F-2C44084F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evidence and note revisions survive provider failure</a:t>
            </a:r>
          </a:p>
        </p:txBody>
      </p:sp>
      <p:sp>
        <p:nvSpPr>
          <p:cNvPr id="28" name="flow-ai">
            <a:extLst xmlns:a="http://schemas.openxmlformats.org/drawingml/2006/main">
              <a:ext uri="{FF2B5EF4-FFF2-40B4-BE49-F238E27FC236}">
                <a16:creationId xmlns:a16="http://schemas.microsoft.com/office/drawing/2014/main" id="{B5A0312F-E745-488C-89C7-FDADD5D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53000"/>
            <a:ext cx="42957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Only changed frames reach vision; raw frames delete after a successful note commit.</a:t>
            </a:r>
          </a:p>
        </p:txBody>
      </p:sp>
      <p:sp>
        <p:nvSpPr>
          <p:cNvPr id="29" name="solution-flow-footer">
            <a:extLst xmlns:a="http://schemas.openxmlformats.org/drawingml/2006/main">
              <a:ext uri="{FF2B5EF4-FFF2-40B4-BE49-F238E27FC236}">
                <a16:creationId xmlns:a16="http://schemas.microsoft.com/office/drawing/2014/main" id="{CE6805E0-9C34-412F-A9EB-4EDC59C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27813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olution-flow-title">
            <a:extLst xmlns:a="http://schemas.openxmlformats.org/drawingml/2006/main">
              <a:ext uri="{FF2B5EF4-FFF2-40B4-BE49-F238E27FC236}">
                <a16:creationId xmlns:a16="http://schemas.microsoft.com/office/drawing/2014/main" id="{F49393C3-7630-49E4-AF4F-FC9E75C5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Voice mode keeps listening while notes evolve in bounded chunks</a:t>
            </a:r>
          </a:p>
        </p:txBody>
      </p:sp>
      <p:sp>
        <p:nvSpPr>
          <p:cNvPr id="2" name="solution-flow-subtitle">
            <a:extLst xmlns:a="http://schemas.openxmlformats.org/drawingml/2006/main">
              <a:ext uri="{FF2B5EF4-FFF2-40B4-BE49-F238E27FC236}">
                <a16:creationId xmlns:a16="http://schemas.microsoft.com/office/drawing/2014/main" id="{6238B2BC-9006-45B2-BD1D-8B123F2B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 visible foreground session makes Stop, retry and evidence status explicit.</a:t>
            </a:r>
          </a:p>
        </p:txBody>
      </p:sp>
      <p:sp>
        <p:nvSpPr>
          <p:cNvPr id="3" name="flow-0">
            <a:extLst xmlns:a="http://schemas.openxmlformats.org/drawingml/2006/main">
              <a:ext uri="{FF2B5EF4-FFF2-40B4-BE49-F238E27FC236}">
                <a16:creationId xmlns:a16="http://schemas.microsoft.com/office/drawing/2014/main" id="{238D24C8-6121-436C-B21B-6D3CC64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low-num-0">
            <a:extLst xmlns:a="http://schemas.openxmlformats.org/drawingml/2006/main">
              <a:ext uri="{FF2B5EF4-FFF2-40B4-BE49-F238E27FC236}">
                <a16:creationId xmlns:a16="http://schemas.microsoft.com/office/drawing/2014/main" id="{888DC9DD-4153-4FC1-BAAA-766A29B7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DE5F9170-2A7E-4086-997F-4D0CB300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</a:t>
            </a:r>
          </a:p>
        </p:txBody>
      </p:sp>
      <p:sp>
        <p:nvSpPr>
          <p:cNvPr id="6" name="flow-body-0">
            <a:extLst xmlns:a="http://schemas.openxmlformats.org/drawingml/2006/main">
              <a:ext uri="{FF2B5EF4-FFF2-40B4-BE49-F238E27FC236}">
                <a16:creationId xmlns:a16="http://schemas.microsoft.com/office/drawing/2014/main" id="{08B5F5E7-A677-4EB4-9DFD-59A62C6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9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PCM16 mono, 16 kHz + device noise controls</a:t>
            </a:r>
          </a:p>
        </p:txBody>
      </p:sp>
      <p:cxnSp>
        <p:nvCxnSpPr>
          <p:cNvPr id="80" name="flow-connector-0"/>
          <p:cNvCxnSpPr/>
          <p:nvPr/>
        </p:nvCxnSpPr>
        <p:spPr>
          <a:xfrm xmlns:a="http://schemas.openxmlformats.org/drawingml/2006/main">
            <a:off x="234315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E8930BE2-3466-40B6-AEE4-3DBF22D0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flow-num-1">
            <a:extLst xmlns:a="http://schemas.openxmlformats.org/drawingml/2006/main">
              <a:ext uri="{FF2B5EF4-FFF2-40B4-BE49-F238E27FC236}">
                <a16:creationId xmlns:a16="http://schemas.microsoft.com/office/drawing/2014/main" id="{C9CD013B-E380-4B50-A35F-509FF14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33BCCEEE-C62A-49A3-8C43-46E5564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Chunk</a:t>
            </a:r>
          </a:p>
        </p:txBody>
      </p:sp>
      <p:sp>
        <p:nvSpPr>
          <p:cNvPr id="11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6119C55-C9B5-4717-BD6A-DDFAB8B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20 s WAV units + final partial audio</a:t>
            </a:r>
          </a:p>
        </p:txBody>
      </p:sp>
      <p:cxnSp>
        <p:nvCxnSpPr>
          <p:cNvPr id="85" name="flow-connector-1"/>
          <p:cNvCxnSpPr/>
          <p:nvPr/>
        </p:nvCxnSpPr>
        <p:spPr>
          <a:xfrm xmlns:a="http://schemas.openxmlformats.org/drawingml/2006/main">
            <a:off x="468630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3A78B601-7CF8-4F10-8BCA-0D53898A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flow-num-2">
            <a:extLst xmlns:a="http://schemas.openxmlformats.org/drawingml/2006/main">
              <a:ext uri="{FF2B5EF4-FFF2-40B4-BE49-F238E27FC236}">
                <a16:creationId xmlns:a16="http://schemas.microsoft.com/office/drawing/2014/main" id="{B5EECD85-DC3C-442B-B451-98CADC2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98288CF-FF8D-467A-A1A7-7C14F634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Diarize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92A690F-5B8C-4DBE-8F6E-D32D7070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Speaker-labelled segments + timestamps</a:t>
            </a:r>
          </a:p>
        </p:txBody>
      </p:sp>
      <p:cxnSp>
        <p:nvCxnSpPr>
          <p:cNvPr id="90" name="flow-connector-2"/>
          <p:cNvCxnSpPr/>
          <p:nvPr/>
        </p:nvCxnSpPr>
        <p:spPr>
          <a:xfrm xmlns:a="http://schemas.openxmlformats.org/drawingml/2006/main">
            <a:off x="702945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8" name="flow-3">
            <a:extLst xmlns:a="http://schemas.openxmlformats.org/drawingml/2006/main">
              <a:ext uri="{FF2B5EF4-FFF2-40B4-BE49-F238E27FC236}">
                <a16:creationId xmlns:a16="http://schemas.microsoft.com/office/drawing/2014/main" id="{57A50B57-A404-4904-8694-6C64257A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low-num-3">
            <a:extLst xmlns:a="http://schemas.openxmlformats.org/drawingml/2006/main">
              <a:ext uri="{FF2B5EF4-FFF2-40B4-BE49-F238E27FC236}">
                <a16:creationId xmlns:a16="http://schemas.microsoft.com/office/drawing/2014/main" id="{1981B120-2B4B-4E9C-877E-D295F573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40CC718F-AF18-4D7C-9312-43A5035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21" name="flow-body-3">
            <a:extLst xmlns:a="http://schemas.openxmlformats.org/drawingml/2006/main">
              <a:ext uri="{FF2B5EF4-FFF2-40B4-BE49-F238E27FC236}">
                <a16:creationId xmlns:a16="http://schemas.microsoft.com/office/drawing/2014/main" id="{DFA225A6-7599-486E-A852-6BC0C55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Per-chunk dominant voice + manual override</a:t>
            </a:r>
          </a:p>
        </p:txBody>
      </p:sp>
      <p:cxnSp>
        <p:nvCxnSpPr>
          <p:cNvPr id="95" name="flow-connector-3"/>
          <p:cNvCxnSpPr/>
          <p:nvPr/>
        </p:nvCxnSpPr>
        <p:spPr>
          <a:xfrm xmlns:a="http://schemas.openxmlformats.org/drawingml/2006/main">
            <a:off x="9372600" y="337185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3" name="flow-4">
            <a:extLst xmlns:a="http://schemas.openxmlformats.org/drawingml/2006/main">
              <a:ext uri="{FF2B5EF4-FFF2-40B4-BE49-F238E27FC236}">
                <a16:creationId xmlns:a16="http://schemas.microsoft.com/office/drawing/2014/main" id="{97959256-F9BF-4EB6-A760-784ABCFA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8600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flow-num-4">
            <a:extLst xmlns:a="http://schemas.openxmlformats.org/drawingml/2006/main">
              <a:ext uri="{FF2B5EF4-FFF2-40B4-BE49-F238E27FC236}">
                <a16:creationId xmlns:a16="http://schemas.microsoft.com/office/drawing/2014/main" id="{3CA744F8-B45F-4022-B30A-CDC854CB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14600"/>
            <a:ext cx="57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B9E31926-F529-4F0E-AD0D-8BCE3A44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05150"/>
            <a:ext cx="15240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Refine</a:t>
            </a:r>
          </a:p>
        </p:txBody>
      </p:sp>
      <p:sp>
        <p:nvSpPr>
          <p:cNvPr id="26" name="flow-body-4">
            <a:extLst xmlns:a="http://schemas.openxmlformats.org/drawingml/2006/main">
              <a:ext uri="{FF2B5EF4-FFF2-40B4-BE49-F238E27FC236}">
                <a16:creationId xmlns:a16="http://schemas.microsoft.com/office/drawing/2014/main" id="{51104873-57CF-4B66-8467-676F642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147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Append Markdown; retain transcript evidence</a:t>
            </a:r>
          </a:p>
        </p:txBody>
      </p:sp>
      <p:sp>
        <p:nvSpPr>
          <p:cNvPr id="27" name="flow-core">
            <a:extLst xmlns:a="http://schemas.openxmlformats.org/drawingml/2006/main">
              <a:ext uri="{FF2B5EF4-FFF2-40B4-BE49-F238E27FC236}">
                <a16:creationId xmlns:a16="http://schemas.microsoft.com/office/drawing/2014/main" id="{B05CF5F8-81FD-45E5-B36F-2C44084F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Audio work receives priority over video processing</a:t>
            </a:r>
          </a:p>
        </p:txBody>
      </p:sp>
      <p:sp>
        <p:nvSpPr>
          <p:cNvPr id="28" name="flow-ai">
            <a:extLst xmlns:a="http://schemas.openxmlformats.org/drawingml/2006/main">
              <a:ext uri="{FF2B5EF4-FFF2-40B4-BE49-F238E27FC236}">
                <a16:creationId xmlns:a16="http://schemas.microsoft.com/office/drawing/2014/main" id="{B5A0312F-E745-488C-89C7-FDADD5D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53000"/>
            <a:ext cx="42957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Failed uploads retry; unrecovered WAV evidence is retained for recovery.</a:t>
            </a:r>
          </a:p>
        </p:txBody>
      </p:sp>
      <p:sp>
        <p:nvSpPr>
          <p:cNvPr id="29" name="solution-flow-footer">
            <a:extLst xmlns:a="http://schemas.openxmlformats.org/drawingml/2006/main">
              <a:ext uri="{FF2B5EF4-FFF2-40B4-BE49-F238E27FC236}">
                <a16:creationId xmlns:a16="http://schemas.microsoft.com/office/drawing/2014/main" id="{CE6805E0-9C34-412F-A9EB-4EDC59C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27813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peech-reality-title">
            <a:extLst xmlns:a="http://schemas.openxmlformats.org/drawingml/2006/main">
              <a:ext uri="{FF2B5EF4-FFF2-40B4-BE49-F238E27FC236}">
                <a16:creationId xmlns:a16="http://schemas.microsoft.com/office/drawing/2014/main" id="{E703069B-D1B3-4B7F-A4FC-AB68010E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Speaker focus is a heuristic—not a claimed biometric identity</a:t>
            </a:r>
          </a:p>
        </p:txBody>
      </p:sp>
      <p:sp>
        <p:nvSpPr>
          <p:cNvPr id="2" name="speech-reality-subtitle">
            <a:extLst xmlns:a="http://schemas.openxmlformats.org/drawingml/2006/main">
              <a:ext uri="{FF2B5EF4-FFF2-40B4-BE49-F238E27FC236}">
                <a16:creationId xmlns:a16="http://schemas.microsoft.com/office/drawing/2014/main" id="{79B64266-C639-4FFB-B3CB-A00C8E15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Diarization labels can reset between requests, so “A” is never assumed to be one person forever.</a:t>
            </a:r>
          </a:p>
        </p:txBody>
      </p:sp>
      <p:sp>
        <p:nvSpPr>
          <p:cNvPr id="3" name="speech-card-1">
            <a:extLst xmlns:a="http://schemas.openxmlformats.org/drawingml/2006/main">
              <a:ext uri="{FF2B5EF4-FFF2-40B4-BE49-F238E27FC236}">
                <a16:creationId xmlns:a16="http://schemas.microsoft.com/office/drawing/2014/main" id="{0F35A0B7-E762-4B93-9265-A432230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peech-card-2">
            <a:extLst xmlns:a="http://schemas.openxmlformats.org/drawingml/2006/main">
              <a:ext uri="{FF2B5EF4-FFF2-40B4-BE49-F238E27FC236}">
                <a16:creationId xmlns:a16="http://schemas.microsoft.com/office/drawing/2014/main" id="{97538CCB-92B1-4D6E-9C70-96C3E057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peech-card-3">
            <a:extLst xmlns:a="http://schemas.openxmlformats.org/drawingml/2006/main">
              <a:ext uri="{FF2B5EF4-FFF2-40B4-BE49-F238E27FC236}">
                <a16:creationId xmlns:a16="http://schemas.microsoft.com/office/drawing/2014/main" id="{CA0800DE-97C0-41F0-AD16-81F4E4CE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571750" cy="3667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peech-card-4">
            <a:extLst xmlns:a="http://schemas.openxmlformats.org/drawingml/2006/main">
              <a:ext uri="{FF2B5EF4-FFF2-40B4-BE49-F238E27FC236}">
                <a16:creationId xmlns:a16="http://schemas.microsoft.com/office/drawing/2014/main" id="{DC285752-D9DC-43FA-AEB5-9864605E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14500"/>
            <a:ext cx="2562225" cy="3667125"/>
          </a:xfrm>
          <a:prstGeom xmlns:a="http://schemas.openxmlformats.org/drawingml/2006/main" prst="roundRect">
            <a:avLst>
              <a:gd name="adj" fmla="val 297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speech-n1">
            <a:extLst xmlns:a="http://schemas.openxmlformats.org/drawingml/2006/main">
              <a:ext uri="{FF2B5EF4-FFF2-40B4-BE49-F238E27FC236}">
                <a16:creationId xmlns:a16="http://schemas.microsoft.com/office/drawing/2014/main" id="{5E14867E-8C6E-4454-945A-9020933E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speech-t1">
            <a:extLst xmlns:a="http://schemas.openxmlformats.org/drawingml/2006/main">
              <a:ext uri="{FF2B5EF4-FFF2-40B4-BE49-F238E27FC236}">
                <a16:creationId xmlns:a16="http://schemas.microsoft.com/office/drawing/2014/main" id="{27D6DD76-8DE0-4A8F-A2B8-5183BE70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9" name="speech-b1">
            <a:extLst xmlns:a="http://schemas.openxmlformats.org/drawingml/2006/main">
              <a:ext uri="{FF2B5EF4-FFF2-40B4-BE49-F238E27FC236}">
                <a16:creationId xmlns:a16="http://schemas.microsoft.com/office/drawing/2014/main" id="{1CCECB33-DA0E-4131-A259-4A4D2728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Within each chunk, compare speaking duration while retaining every raw segment.</a:t>
            </a:r>
          </a:p>
        </p:txBody>
      </p:sp>
      <p:sp>
        <p:nvSpPr>
          <p:cNvPr id="10" name="speech-n2">
            <a:extLst xmlns:a="http://schemas.openxmlformats.org/drawingml/2006/main">
              <a:ext uri="{FF2B5EF4-FFF2-40B4-BE49-F238E27FC236}">
                <a16:creationId xmlns:a16="http://schemas.microsoft.com/office/drawing/2014/main" id="{57C2A6B6-53E0-4C11-A37A-5419A72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speech-t2">
            <a:extLst xmlns:a="http://schemas.openxmlformats.org/drawingml/2006/main">
              <a:ext uri="{FF2B5EF4-FFF2-40B4-BE49-F238E27FC236}">
                <a16:creationId xmlns:a16="http://schemas.microsoft.com/office/drawing/2014/main" id="{669B3C14-4A6B-4C17-87F6-D307855A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</a:t>
            </a:r>
          </a:p>
        </p:txBody>
      </p:sp>
      <p:sp>
        <p:nvSpPr>
          <p:cNvPr id="12" name="speech-b2">
            <a:extLst xmlns:a="http://schemas.openxmlformats.org/drawingml/2006/main">
              <a:ext uri="{FF2B5EF4-FFF2-40B4-BE49-F238E27FC236}">
                <a16:creationId xmlns:a16="http://schemas.microsoft.com/office/drawing/2014/main" id="{40A2AD59-EEE2-4B1D-A757-DAAAC77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Prefer the locally dominant voice only when the duration margin is strong.</a:t>
            </a:r>
          </a:p>
        </p:txBody>
      </p:sp>
      <p:sp>
        <p:nvSpPr>
          <p:cNvPr id="13" name="speech-n3">
            <a:extLst xmlns:a="http://schemas.openxmlformats.org/drawingml/2006/main">
              <a:ext uri="{FF2B5EF4-FFF2-40B4-BE49-F238E27FC236}">
                <a16:creationId xmlns:a16="http://schemas.microsoft.com/office/drawing/2014/main" id="{3B4218BC-818B-4280-BAAA-7CDF38D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peech-t3">
            <a:extLst xmlns:a="http://schemas.openxmlformats.org/drawingml/2006/main">
              <a:ext uri="{FF2B5EF4-FFF2-40B4-BE49-F238E27FC236}">
                <a16:creationId xmlns:a16="http://schemas.microsoft.com/office/drawing/2014/main" id="{50B9DA90-BDA4-4FD8-83E0-00F6103B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Override</a:t>
            </a:r>
          </a:p>
        </p:txBody>
      </p:sp>
      <p:sp>
        <p:nvSpPr>
          <p:cNvPr id="15" name="speech-b3">
            <a:extLst xmlns:a="http://schemas.openxmlformats.org/drawingml/2006/main">
              <a:ext uri="{FF2B5EF4-FFF2-40B4-BE49-F238E27FC236}">
                <a16:creationId xmlns:a16="http://schemas.microsoft.com/office/drawing/2014/main" id="{246DB67F-83A9-4100-83D8-BCF602B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user can select a speaker label when the classroom pattern is ambiguous.</a:t>
            </a:r>
          </a:p>
        </p:txBody>
      </p:sp>
      <p:sp>
        <p:nvSpPr>
          <p:cNvPr id="16" name="speech-n4">
            <a:extLst xmlns:a="http://schemas.openxmlformats.org/drawingml/2006/main">
              <a:ext uri="{FF2B5EF4-FFF2-40B4-BE49-F238E27FC236}">
                <a16:creationId xmlns:a16="http://schemas.microsoft.com/office/drawing/2014/main" id="{6E080EB1-00CB-4780-B955-E4F69FF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speech-t4">
            <a:extLst xmlns:a="http://schemas.openxmlformats.org/drawingml/2006/main">
              <a:ext uri="{FF2B5EF4-FFF2-40B4-BE49-F238E27FC236}">
                <a16:creationId xmlns:a16="http://schemas.microsoft.com/office/drawing/2014/main" id="{B7E158DE-B91C-4F44-834C-6A62C31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Safeguard</a:t>
            </a:r>
          </a:p>
        </p:txBody>
      </p:sp>
      <p:sp>
        <p:nvSpPr>
          <p:cNvPr id="18" name="speech-b4">
            <a:extLst xmlns:a="http://schemas.openxmlformats.org/drawingml/2006/main">
              <a:ext uri="{FF2B5EF4-FFF2-40B4-BE49-F238E27FC236}">
                <a16:creationId xmlns:a16="http://schemas.microsoft.com/office/drawing/2014/main" id="{1248D2A0-B3C3-4508-9ECA-3FFFE86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2000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Runnable may filter; Verbatim always preserves the complete ordered transcript.</a:t>
            </a:r>
          </a:p>
        </p:txBody>
      </p:sp>
      <p:sp>
        <p:nvSpPr>
          <p:cNvPr id="19" name="speech-foot">
            <a:extLst xmlns:a="http://schemas.openxmlformats.org/drawingml/2006/main">
              <a:ext uri="{FF2B5EF4-FFF2-40B4-BE49-F238E27FC236}">
                <a16:creationId xmlns:a16="http://schemas.microsoft.com/office/drawing/2014/main" id="{6B1C70BA-90EA-49E5-A8BE-E5515374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00725"/>
            <a:ext cx="1095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Persistent identity across long sessions would require a future on-device speaker embedding model.</a:t>
            </a:r>
          </a:p>
        </p:txBody>
      </p:sp>
      <p:sp>
        <p:nvSpPr>
          <p:cNvPr id="20" name="speech-reality-footer">
            <a:extLst xmlns:a="http://schemas.openxmlformats.org/drawingml/2006/main">
              <a:ext uri="{FF2B5EF4-FFF2-40B4-BE49-F238E27FC236}">
                <a16:creationId xmlns:a16="http://schemas.microsoft.com/office/drawing/2014/main" id="{2AC15F0E-8C16-448E-B2C5-EE02126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2116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C0F0768-8859-4D45-BF73-6D4E94D3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BD30286-4260-4480-9C5C-2566A33C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Video mode spends resources only when the board has materially changed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5070AE7-05A6-4B52-A98A-2DF39E8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82C78E8-3AEA-480B-BF1F-3738A62A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C198997-F2EC-4B04-BC25-D0FBD5D9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A84A0039-0C51-4B34-B3DD-6CAA086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F4B95934-A1E0-46B6-A4AB-B3AC73C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Adjustable 2–30 s cadence writes a temporary frame; audio uses its own priority path.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7C5B211-7D7C-4E1F-90B9-08E1F120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90269D7-BFFA-4982-87BD-43F45FF0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32×32 luminance signature compensates for exposure shifts and rejects similar frames locally.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3C51127-9844-4753-907B-EB6A3AA3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FBD447C-BC1A-455B-90BE-71380B1D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COMMIT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Changed frames reach vision/OCR; crops and notes commit before raw media is removed.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A71349B-DDE0-41C0-8BAA-FCB5EB3A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ON-DEVICE FILTER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6A655004-E4E6-4C80-B319-52C8D070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 GATE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38A081B-B052-4565-880A-C7A405CC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ONLY WHEN NEEDED</a:t>
            </a:r>
          </a:p>
        </p:txBody>
      </p:sp>
    </p:spTree>
    <p:extLst>
      <p:ext uri="{BB962C8B-B14F-4D97-AF65-F5344CB8AC3E}">
        <p14:creationId xmlns:p14="http://schemas.microsoft.com/office/powerpoint/2010/main" val="7351914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112B646-9150-4C88-95EA-175271E3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Board noise is reduced before visual evidence enters the note</a:t>
            </a:r>
          </a:p>
        </p:txBody>
      </p:sp>
      <p:sp>
        <p:nvSpPr>
          <p:cNvPr id="2" name="problem-subtitle">
            <a:extLst xmlns:a="http://schemas.openxmlformats.org/drawingml/2006/main">
              <a:ext uri="{FF2B5EF4-FFF2-40B4-BE49-F238E27FC236}">
                <a16:creationId xmlns:a16="http://schemas.microsoft.com/office/drawing/2014/main" id="{52B3ED06-DA13-4F57-87D7-8A6F248E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Vision extracts text, equations and normalized diagram regions; the app crops assets locally.</a:t>
            </a:r>
          </a:p>
        </p:txBody>
      </p:sp>
      <p:sp>
        <p:nvSpPr>
          <p:cNvPr id="3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DF41098B-3FF4-415E-B8A1-396DFC7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048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E8C66FEB-0B82-4079-AA0C-164E34A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429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E30CE96A-7322-4759-A5EF-53F1740B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02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EF6A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F6A6A"/>
                </a:solidFill>
                <a:latin typeface="Helvetica Neue"/>
                <a:ea typeface="Helvetica Neue"/>
                <a:cs typeface="Helvetica Neue"/>
              </a:rPr>
              <a:t>CLASSROOM FRAME</a:t>
            </a:r>
          </a:p>
        </p:txBody>
      </p:sp>
      <p:sp>
        <p:nvSpPr>
          <p:cNvPr id="6" name="problem-flat">
            <a:extLst xmlns:a="http://schemas.openxmlformats.org/drawingml/2006/main">
              <a:ext uri="{FF2B5EF4-FFF2-40B4-BE49-F238E27FC236}">
                <a16:creationId xmlns:a16="http://schemas.microsoft.com/office/drawing/2014/main" id="{7EE2C3CD-8AB5-431D-84BE-522692B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95550"/>
            <a:ext cx="4305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Projector border • glare • wall • classmates • repeated writing • diagram • equation</a:t>
            </a:r>
          </a:p>
        </p:txBody>
      </p:sp>
      <p:sp>
        <p:nvSpPr>
          <p:cNvPr id="7" name="problem-left-cost">
            <a:extLst xmlns:a="http://schemas.openxmlformats.org/drawingml/2006/main">
              <a:ext uri="{FF2B5EF4-FFF2-40B4-BE49-F238E27FC236}">
                <a16:creationId xmlns:a16="http://schemas.microsoft.com/office/drawing/2014/main" id="{E191F047-A1F5-45A9-A919-6736409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33950"/>
            <a:ext cx="430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full frame remains temporary evidence, not a permanent note image.</a:t>
            </a:r>
          </a:p>
        </p:txBody>
      </p:sp>
      <p:sp>
        <p:nvSpPr>
          <p:cNvPr id="8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72163585-16DF-41C3-BA2D-EDBE6E50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NOTE ASSET</a:t>
            </a:r>
          </a:p>
        </p:txBody>
      </p:sp>
      <p:sp>
        <p:nvSpPr>
          <p:cNvPr id="9" name="problem-h1">
            <a:extLst xmlns:a="http://schemas.openxmlformats.org/drawingml/2006/main">
              <a:ext uri="{FF2B5EF4-FFF2-40B4-BE49-F238E27FC236}">
                <a16:creationId xmlns:a16="http://schemas.microsoft.com/office/drawing/2014/main" id="{A90F749E-5F16-4DDD-82F6-C28CDBB2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4191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Newton’s second law</a:t>
            </a:r>
          </a:p>
        </p:txBody>
      </p:sp>
      <p:sp>
        <p:nvSpPr>
          <p:cNvPr id="10" name="problem-paragraph">
            <a:extLst xmlns:a="http://schemas.openxmlformats.org/drawingml/2006/main">
              <a:ext uri="{FF2B5EF4-FFF2-40B4-BE49-F238E27FC236}">
                <a16:creationId xmlns:a16="http://schemas.microsoft.com/office/drawing/2014/main" id="{42DA12AA-A405-45E3-850C-7A412C1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19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$$F = ma$$</a:t>
            </a:r>
          </a:p>
        </p:txBody>
      </p:sp>
      <p:sp>
        <p:nvSpPr>
          <p:cNvPr id="11" name="problem-list">
            <a:extLst xmlns:a="http://schemas.openxmlformats.org/drawingml/2006/main">
              <a:ext uri="{FF2B5EF4-FFF2-40B4-BE49-F238E27FC236}">
                <a16:creationId xmlns:a16="http://schemas.microsoft.com/office/drawing/2014/main" id="{4D982CCE-2787-487E-83BA-7EB8922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000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Force: F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Mass: 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Acceleration: a</a:t>
            </a:r>
          </a:p>
        </p:txBody>
      </p:sp>
      <p:sp>
        <p:nvSpPr>
          <p:cNvPr id="12" name="problem-right-win">
            <a:extLst xmlns:a="http://schemas.openxmlformats.org/drawingml/2006/main">
              <a:ext uri="{FF2B5EF4-FFF2-40B4-BE49-F238E27FC236}">
                <a16:creationId xmlns:a16="http://schemas.microsoft.com/office/drawing/2014/main" id="{281B3098-F9C4-4C29-BEB6-F02DC782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81575"/>
            <a:ext cx="428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![Free-body diagram](assets/diagram-01.jpg)</a:t>
            </a:r>
          </a:p>
        </p:txBody>
      </p:sp>
      <p:cxnSp>
        <p:nvCxnSpPr>
          <p:cNvPr id="53" name="problem-arrow"/>
          <p:cNvCxnSpPr/>
          <p:nvPr/>
        </p:nvCxnSpPr>
        <p:spPr>
          <a:xfrm xmlns:a="http://schemas.openxmlformats.org/drawingml/2006/main">
            <a:off x="5505450" y="3562350"/>
            <a:ext cx="7429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4" name="problem-footer">
            <a:extLst xmlns:a="http://schemas.openxmlformats.org/drawingml/2006/main">
              <a:ext uri="{FF2B5EF4-FFF2-40B4-BE49-F238E27FC236}">
                <a16:creationId xmlns:a16="http://schemas.microsoft.com/office/drawing/2014/main" id="{B013DCCA-324F-43E6-9710-5E40DF83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07803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112B646-9150-4C88-95EA-175271E3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Runnable and Verbatim make the transformation policy explicit</a:t>
            </a:r>
          </a:p>
        </p:txBody>
      </p:sp>
      <p:sp>
        <p:nvSpPr>
          <p:cNvPr id="2" name="problem-subtitle">
            <a:extLst xmlns:a="http://schemas.openxmlformats.org/drawingml/2006/main">
              <a:ext uri="{FF2B5EF4-FFF2-40B4-BE49-F238E27FC236}">
                <a16:creationId xmlns:a16="http://schemas.microsoft.com/office/drawing/2014/main" id="{52B3ED06-DA13-4F57-87D7-8A6F248E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The same capture evidence is retained; only the note-generation policy changes.</a:t>
            </a:r>
          </a:p>
        </p:txBody>
      </p:sp>
      <p:sp>
        <p:nvSpPr>
          <p:cNvPr id="3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DF41098B-3FF4-415E-B8A1-396DFC75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048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E8C66FEB-0B82-4079-AA0C-164E34A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429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E30CE96A-7322-4759-A5EF-53F1740B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02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EF6A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F6A6A"/>
                </a:solidFill>
                <a:latin typeface="Helvetica Neue"/>
                <a:ea typeface="Helvetica Neue"/>
                <a:cs typeface="Helvetica Neue"/>
              </a:rPr>
              <a:t>RUNNABLE</a:t>
            </a:r>
          </a:p>
        </p:txBody>
      </p:sp>
      <p:sp>
        <p:nvSpPr>
          <p:cNvPr id="6" name="problem-flat">
            <a:extLst xmlns:a="http://schemas.openxmlformats.org/drawingml/2006/main">
              <a:ext uri="{FF2B5EF4-FFF2-40B4-BE49-F238E27FC236}">
                <a16:creationId xmlns:a16="http://schemas.microsoft.com/office/drawing/2014/main" id="{7EE2C3CD-8AB5-431D-84BE-522692B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95550"/>
            <a:ext cx="4305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Prioritize the teacher’s main concepts; omit tangents; organize headings; flag uncertain corrections.</a:t>
            </a:r>
          </a:p>
        </p:txBody>
      </p:sp>
      <p:sp>
        <p:nvSpPr>
          <p:cNvPr id="7" name="problem-left-cost">
            <a:extLst xmlns:a="http://schemas.openxmlformats.org/drawingml/2006/main">
              <a:ext uri="{FF2B5EF4-FFF2-40B4-BE49-F238E27FC236}">
                <a16:creationId xmlns:a16="http://schemas.microsoft.com/office/drawing/2014/main" id="{E191F047-A1F5-45A9-A919-6736409D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33950"/>
            <a:ext cx="430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 for revisable study notes. AI transformation remains evidence-bound and visible.</a:t>
            </a:r>
          </a:p>
        </p:txBody>
      </p:sp>
      <p:sp>
        <p:nvSpPr>
          <p:cNvPr id="8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72163585-16DF-41C3-BA2D-EDBE6E50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VERBATIM</a:t>
            </a:r>
          </a:p>
        </p:txBody>
      </p:sp>
      <p:sp>
        <p:nvSpPr>
          <p:cNvPr id="9" name="problem-h1">
            <a:extLst xmlns:a="http://schemas.openxmlformats.org/drawingml/2006/main">
              <a:ext uri="{FF2B5EF4-FFF2-40B4-BE49-F238E27FC236}">
                <a16:creationId xmlns:a16="http://schemas.microsoft.com/office/drawing/2014/main" id="{A90F749E-5F16-4DDD-82F6-C28CDBB2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4191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 transcript</a:t>
            </a:r>
          </a:p>
        </p:txBody>
      </p:sp>
      <p:sp>
        <p:nvSpPr>
          <p:cNvPr id="10" name="problem-paragraph">
            <a:extLst xmlns:a="http://schemas.openxmlformats.org/drawingml/2006/main">
              <a:ext uri="{FF2B5EF4-FFF2-40B4-BE49-F238E27FC236}">
                <a16:creationId xmlns:a16="http://schemas.microsoft.com/office/drawing/2014/main" id="{42DA12AA-A405-45E3-850C-7A412C1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19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diarized utterance is appended in order.</a:t>
            </a:r>
          </a:p>
        </p:txBody>
      </p:sp>
      <p:sp>
        <p:nvSpPr>
          <p:cNvPr id="11" name="problem-list">
            <a:extLst xmlns:a="http://schemas.openxmlformats.org/drawingml/2006/main">
              <a:ext uri="{FF2B5EF4-FFF2-40B4-BE49-F238E27FC236}">
                <a16:creationId xmlns:a16="http://schemas.microsoft.com/office/drawing/2014/main" id="{4D982CCE-2787-487E-83BA-7EB8922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4000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Speaker label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Timestamp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Exact wording</a:t>
            </a:r>
          </a:p>
        </p:txBody>
      </p:sp>
      <p:sp>
        <p:nvSpPr>
          <p:cNvPr id="12" name="problem-right-win">
            <a:extLst xmlns:a="http://schemas.openxmlformats.org/drawingml/2006/main">
              <a:ext uri="{FF2B5EF4-FFF2-40B4-BE49-F238E27FC236}">
                <a16:creationId xmlns:a16="http://schemas.microsoft.com/office/drawing/2014/main" id="{281B3098-F9C4-4C29-BEB6-F02DC782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81575"/>
            <a:ext cx="428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 for meetings, interviews and audit-friendly transcription.</a:t>
            </a:r>
          </a:p>
        </p:txBody>
      </p:sp>
      <p:cxnSp>
        <p:nvCxnSpPr>
          <p:cNvPr id="53" name="problem-arrow"/>
          <p:cNvCxnSpPr/>
          <p:nvPr/>
        </p:nvCxnSpPr>
        <p:spPr>
          <a:xfrm xmlns:a="http://schemas.openxmlformats.org/drawingml/2006/main">
            <a:off x="5505450" y="3562350"/>
            <a:ext cx="7429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4" name="problem-footer">
            <a:extLst xmlns:a="http://schemas.openxmlformats.org/drawingml/2006/main">
              <a:ext uri="{FF2B5EF4-FFF2-40B4-BE49-F238E27FC236}">
                <a16:creationId xmlns:a16="http://schemas.microsoft.com/office/drawing/2014/main" id="{B013DCCA-324F-43E6-9710-5E40DF83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07803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C0F0768-8859-4D45-BF73-6D4E94D3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BD30286-4260-4480-9C5C-2566A33C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Cross-checking uses three bounded sources—never silent invention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5070AE7-05A6-4B52-A98A-2DF39E8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82C78E8-3AEA-480B-BF1F-3738A62A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C198997-F2EC-4B04-BC25-D0FBD5D9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A84A0039-0C51-4B34-B3DD-6CAA086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F4B95934-A1E0-46B6-A4AB-B3AC73C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 EVIDENCE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Transcript, board text, equations and diagram crops are the primary record.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7C5B211-7D7C-4E1F-90B9-08E1F120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90269D7-BFFA-4982-87BD-43F45FF0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SYLLABUS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selected Markdown/text syllabus supplies topic names and expected context.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3C51127-9844-4753-907B-EB6A3AA3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FBD447C-BC1A-455B-90BE-71380B1D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REVIEW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Corrections and uncertainty are flagged; the note keeps source meaning and revision history.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A71349B-DDE0-41C0-8BAA-FCB5EB3A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 ONLY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6A655004-E4E6-4C80-B319-52C8D070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FIRST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38A081B-B052-4565-880A-C7A405CC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VISIBLE CORRECTIONS</a:t>
            </a:r>
          </a:p>
        </p:txBody>
      </p:sp>
    </p:spTree>
    <p:extLst>
      <p:ext uri="{BB962C8B-B14F-4D97-AF65-F5344CB8AC3E}">
        <p14:creationId xmlns:p14="http://schemas.microsoft.com/office/powerpoint/2010/main" val="7351914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B38AD00-B03B-45A6-987C-4056F3D5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ECB46AF-9449-4E0A-BB8E-40E1C9E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Create, continue and export from a private local library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2CF4744-51EC-46EA-8695-0EE18243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E414708-453B-45F0-91A3-8A165DB7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1411C2B-4655-48A3-9541-8C39810A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2C4A43B-27E3-4E2C-BB95-540980F4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• CREATE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72BDDBB-49AE-4732-8B7E-1192F35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• CONTINUE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CCE509A-9328-4D52-8394-A621D5AD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• EXPORT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EF03A97-8C67-4534-B365-AD29ABDE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Continue recent work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Resume an existing note and append new evidence to its Markdown context.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2597E8C-E32B-49AC-A4EF-3D6BDF4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a note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folder, Voice/Video, policy and optional local syllabus.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F4DAF6F-CD3A-4235-9079-E76C25C3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to Obsidian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 a ZIP with portable Markdown and copied diagram assets.</a:t>
            </a:r>
          </a:p>
        </p:txBody>
      </p:sp>
    </p:spTree>
    <p:extLst>
      <p:ext uri="{BB962C8B-B14F-4D97-AF65-F5344CB8AC3E}">
        <p14:creationId xmlns:p14="http://schemas.microsoft.com/office/powerpoint/2010/main" val="9349118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E7DCA02-0AEB-4331-AAD4-950F49CC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API key stays off the phone in a stateless, replaceable AI boundary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02D51C6A-2A58-4679-B8FC-D6AEE8B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Android owns capture and storage; a configured HTTPS proxy owns credentials, validation and routing.</a:t>
            </a:r>
          </a:p>
        </p:txBody>
      </p:sp>
      <p:sp>
        <p:nvSpPr>
          <p:cNvPr id="3" name="arch-top-0">
            <a:extLst xmlns:a="http://schemas.openxmlformats.org/drawingml/2006/main">
              <a:ext uri="{FF2B5EF4-FFF2-40B4-BE49-F238E27FC236}">
                <a16:creationId xmlns:a16="http://schemas.microsoft.com/office/drawing/2014/main" id="{F2F50FE5-DF31-4C61-8334-F7B6377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F194707C-7752-438F-9FCF-3EA8C084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Compose UI</a:t>
            </a:r>
          </a:p>
        </p:txBody>
      </p:sp>
      <p:sp>
        <p:nvSpPr>
          <p:cNvPr id="5" name="arch-body-0">
            <a:extLst xmlns:a="http://schemas.openxmlformats.org/drawingml/2006/main">
              <a:ext uri="{FF2B5EF4-FFF2-40B4-BE49-F238E27FC236}">
                <a16:creationId xmlns:a16="http://schemas.microsoft.com/office/drawing/2014/main" id="{244CFB51-0B8C-4B6A-9C80-3EB21B2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Library • live capture • review</a:t>
            </a:r>
          </a:p>
        </p:txBody>
      </p:sp>
      <p:cxnSp>
        <p:nvCxnSpPr>
          <p:cNvPr id="106" name="arch-link-0"/>
          <p:cNvCxnSpPr/>
          <p:nvPr/>
        </p:nvCxnSpPr>
        <p:spPr>
          <a:xfrm xmlns:a="http://schemas.openxmlformats.org/drawingml/2006/main">
            <a:off x="2343150" y="255270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arch-top-1">
            <a:extLst xmlns:a="http://schemas.openxmlformats.org/drawingml/2006/main">
              <a:ext uri="{FF2B5EF4-FFF2-40B4-BE49-F238E27FC236}">
                <a16:creationId xmlns:a16="http://schemas.microsoft.com/office/drawing/2014/main" id="{452B47A6-D680-460F-BFD6-E15981D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FD8C0589-9FF3-4BB3-839F-3C5E8C85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 engine</a:t>
            </a:r>
          </a:p>
        </p:txBody>
      </p:sp>
      <p:sp>
        <p:nvSpPr>
          <p:cNvPr id="9" name="arch-body-1">
            <a:extLst xmlns:a="http://schemas.openxmlformats.org/drawingml/2006/main">
              <a:ext uri="{FF2B5EF4-FFF2-40B4-BE49-F238E27FC236}">
                <a16:creationId xmlns:a16="http://schemas.microsoft.com/office/drawing/2014/main" id="{6CFD85D1-A235-4DFF-A7FE-F2A9BC78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9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Queues • lifecycle • state</a:t>
            </a:r>
          </a:p>
        </p:txBody>
      </p:sp>
      <p:cxnSp>
        <p:nvCxnSpPr>
          <p:cNvPr id="110" name="arch-link-1"/>
          <p:cNvCxnSpPr/>
          <p:nvPr/>
        </p:nvCxnSpPr>
        <p:spPr>
          <a:xfrm xmlns:a="http://schemas.openxmlformats.org/drawingml/2006/main">
            <a:off x="4686300" y="255270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1" name="arch-top-2">
            <a:extLst xmlns:a="http://schemas.openxmlformats.org/drawingml/2006/main">
              <a:ext uri="{FF2B5EF4-FFF2-40B4-BE49-F238E27FC236}">
                <a16:creationId xmlns:a16="http://schemas.microsoft.com/office/drawing/2014/main" id="{3353052C-52E6-46C9-B738-9852B2F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3BBAE815-37D3-4FA6-937D-A174B78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logic</a:t>
            </a:r>
          </a:p>
        </p:txBody>
      </p:sp>
      <p:sp>
        <p:nvSpPr>
          <p:cNvPr id="13" name="arch-body-2">
            <a:extLst xmlns:a="http://schemas.openxmlformats.org/drawingml/2006/main">
              <a:ext uri="{FF2B5EF4-FFF2-40B4-BE49-F238E27FC236}">
                <a16:creationId xmlns:a16="http://schemas.microsoft.com/office/drawing/2014/main" id="{98DB6525-93BC-434E-9AF9-B5662E5C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8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diff • crop • speaker focus</a:t>
            </a:r>
          </a:p>
        </p:txBody>
      </p:sp>
      <p:cxnSp>
        <p:nvCxnSpPr>
          <p:cNvPr id="114" name="arch-link-2"/>
          <p:cNvCxnSpPr/>
          <p:nvPr/>
        </p:nvCxnSpPr>
        <p:spPr>
          <a:xfrm xmlns:a="http://schemas.openxmlformats.org/drawingml/2006/main">
            <a:off x="7029450" y="255270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5" name="arch-top-3">
            <a:extLst xmlns:a="http://schemas.openxmlformats.org/drawingml/2006/main">
              <a:ext uri="{FF2B5EF4-FFF2-40B4-BE49-F238E27FC236}">
                <a16:creationId xmlns:a16="http://schemas.microsoft.com/office/drawing/2014/main" id="{FF6DA555-45F0-43AB-99DD-B990F188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9AFE8AF5-BA90-4095-8D84-3D94E1BD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 model</a:t>
            </a:r>
          </a:p>
        </p:txBody>
      </p:sp>
      <p:sp>
        <p:nvSpPr>
          <p:cNvPr id="17" name="arch-body-3">
            <a:extLst xmlns:a="http://schemas.openxmlformats.org/drawingml/2006/main">
              <a:ext uri="{FF2B5EF4-FFF2-40B4-BE49-F238E27FC236}">
                <a16:creationId xmlns:a16="http://schemas.microsoft.com/office/drawing/2014/main" id="{B0058331-135B-49FB-9E1B-B424117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revisions • provenance • assets</a:t>
            </a:r>
          </a:p>
        </p:txBody>
      </p:sp>
      <p:cxnSp>
        <p:nvCxnSpPr>
          <p:cNvPr id="118" name="arch-link-3"/>
          <p:cNvCxnSpPr/>
          <p:nvPr/>
        </p:nvCxnSpPr>
        <p:spPr>
          <a:xfrm xmlns:a="http://schemas.openxmlformats.org/drawingml/2006/main">
            <a:off x="9372600" y="2552700"/>
            <a:ext cx="39052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9" name="arch-top-4">
            <a:extLst xmlns:a="http://schemas.openxmlformats.org/drawingml/2006/main">
              <a:ext uri="{FF2B5EF4-FFF2-40B4-BE49-F238E27FC236}">
                <a16:creationId xmlns:a16="http://schemas.microsoft.com/office/drawing/2014/main" id="{E60673DF-991C-493C-B643-294D47A6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1952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81A9E776-95F0-4713-962B-93430685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171700"/>
            <a:ext cx="16097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Room v2</a:t>
            </a:r>
          </a:p>
        </p:txBody>
      </p:sp>
      <p:sp>
        <p:nvSpPr>
          <p:cNvPr id="21" name="arch-body-4">
            <a:extLst xmlns:a="http://schemas.openxmlformats.org/drawingml/2006/main">
              <a:ext uri="{FF2B5EF4-FFF2-40B4-BE49-F238E27FC236}">
                <a16:creationId xmlns:a16="http://schemas.microsoft.com/office/drawing/2014/main" id="{DB2AE406-33DC-4CD5-BAB1-EA50F70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38425"/>
            <a:ext cx="16097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folders • notes • sessions</a:t>
            </a:r>
          </a:p>
        </p:txBody>
      </p:sp>
      <p:sp>
        <p:nvSpPr>
          <p:cNvPr id="22" name="arch-service-0">
            <a:extLst xmlns:a="http://schemas.openxmlformats.org/drawingml/2006/main">
              <a:ext uri="{FF2B5EF4-FFF2-40B4-BE49-F238E27FC236}">
                <a16:creationId xmlns:a16="http://schemas.microsoft.com/office/drawing/2014/main" id="{66118C75-B041-49AA-941B-96B8C0D2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3200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arch-service-title-0">
            <a:extLst xmlns:a="http://schemas.openxmlformats.org/drawingml/2006/main">
              <a:ext uri="{FF2B5EF4-FFF2-40B4-BE49-F238E27FC236}">
                <a16:creationId xmlns:a16="http://schemas.microsoft.com/office/drawing/2014/main" id="{35489A78-819B-4986-AFC8-021B197D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 adapters</a:t>
            </a:r>
          </a:p>
        </p:txBody>
      </p:sp>
      <p:sp>
        <p:nvSpPr>
          <p:cNvPr id="24" name="arch-service-body-0">
            <a:extLst xmlns:a="http://schemas.openxmlformats.org/drawingml/2006/main">
              <a:ext uri="{FF2B5EF4-FFF2-40B4-BE49-F238E27FC236}">
                <a16:creationId xmlns:a16="http://schemas.microsoft.com/office/drawing/2014/main" id="{4AFB96D2-1750-4E5E-93D6-42FCE04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AudioRecord • CameraX • SAF</a:t>
            </a:r>
          </a:p>
        </p:txBody>
      </p:sp>
      <p:sp>
        <p:nvSpPr>
          <p:cNvPr id="25" name="arch-service-1">
            <a:extLst xmlns:a="http://schemas.openxmlformats.org/drawingml/2006/main">
              <a:ext uri="{FF2B5EF4-FFF2-40B4-BE49-F238E27FC236}">
                <a16:creationId xmlns:a16="http://schemas.microsoft.com/office/drawing/2014/main" id="{DE5FAE20-FC8B-40FA-A924-5BCBB200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48150"/>
            <a:ext cx="3200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arch-service-title-1">
            <a:extLst xmlns:a="http://schemas.openxmlformats.org/drawingml/2006/main">
              <a:ext uri="{FF2B5EF4-FFF2-40B4-BE49-F238E27FC236}">
                <a16:creationId xmlns:a16="http://schemas.microsoft.com/office/drawing/2014/main" id="{85772745-CD90-4669-A0F9-7741C8CE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Secure proxy</a:t>
            </a:r>
          </a:p>
        </p:txBody>
      </p:sp>
      <p:sp>
        <p:nvSpPr>
          <p:cNvPr id="27" name="arch-service-body-1">
            <a:extLst xmlns:a="http://schemas.openxmlformats.org/drawingml/2006/main">
              <a:ext uri="{FF2B5EF4-FFF2-40B4-BE49-F238E27FC236}">
                <a16:creationId xmlns:a16="http://schemas.microsoft.com/office/drawing/2014/main" id="{E86721E7-1CA1-4AB3-AF2A-9CC3C532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53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strict schemas • no media persistence</a:t>
            </a:r>
          </a:p>
        </p:txBody>
      </p:sp>
      <p:sp>
        <p:nvSpPr>
          <p:cNvPr id="28" name="arch-service-2">
            <a:extLst xmlns:a="http://schemas.openxmlformats.org/drawingml/2006/main">
              <a:ext uri="{FF2B5EF4-FFF2-40B4-BE49-F238E27FC236}">
                <a16:creationId xmlns:a16="http://schemas.microsoft.com/office/drawing/2014/main" id="{08EB2F88-8E37-4020-8492-EAF72B8D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48150"/>
            <a:ext cx="3200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arch-service-title-2">
            <a:extLst xmlns:a="http://schemas.openxmlformats.org/drawingml/2006/main">
              <a:ext uri="{FF2B5EF4-FFF2-40B4-BE49-F238E27FC236}">
                <a16:creationId xmlns:a16="http://schemas.microsoft.com/office/drawing/2014/main" id="{4162B25F-EEBC-4677-B2FF-5252552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OpenAI routes</a:t>
            </a:r>
          </a:p>
        </p:txBody>
      </p:sp>
      <p:sp>
        <p:nvSpPr>
          <p:cNvPr id="30" name="arch-service-body-2">
            <a:extLst xmlns:a="http://schemas.openxmlformats.org/drawingml/2006/main">
              <a:ext uri="{FF2B5EF4-FFF2-40B4-BE49-F238E27FC236}">
                <a16:creationId xmlns:a16="http://schemas.microsoft.com/office/drawing/2014/main" id="{F7D5E71E-41A8-44A0-9D6D-3AF9B347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transcription • vision • note delta</a:t>
            </a:r>
          </a:p>
        </p:txBody>
      </p:sp>
      <p:cxnSp>
        <p:nvCxnSpPr>
          <p:cNvPr id="131" name="arch-down-speech"/>
          <p:cNvCxnSpPr/>
          <p:nvPr/>
        </p:nvCxnSpPr>
        <p:spPr>
          <a:xfrm xmlns:a="http://schemas.openxmlformats.org/drawingml/2006/main">
            <a:off x="3524250" y="3143250"/>
            <a:ext cx="286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cxnSp>
      <p:cxnSp>
        <p:nvCxnSpPr>
          <p:cNvPr id="132" name="arch-down-render"/>
          <p:cNvCxnSpPr/>
          <p:nvPr/>
        </p:nvCxnSpPr>
        <p:spPr>
          <a:xfrm xmlns:a="http://schemas.openxmlformats.org/drawingml/2006/main">
            <a:off x="6057900" y="3143250"/>
            <a:ext cx="286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</a:ln>
        </p:spPr>
      </p:cxnSp>
      <p:cxnSp>
        <p:nvCxnSpPr>
          <p:cNvPr id="133" name="arch-down-ai"/>
          <p:cNvCxnSpPr/>
          <p:nvPr/>
        </p:nvCxnSpPr>
        <p:spPr>
          <a:xfrm xmlns:a="http://schemas.openxmlformats.org/drawingml/2006/main">
            <a:off x="8591550" y="3143250"/>
            <a:ext cx="286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dash"/>
          </a:ln>
        </p:spPr>
      </p:cxnSp>
      <p:sp>
        <p:nvSpPr>
          <p:cNvPr id="34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10C0E698-4D2E-4C55-AEFC-3586A0A6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672911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rammar-title">
            <a:extLst xmlns:a="http://schemas.openxmlformats.org/drawingml/2006/main">
              <a:ext uri="{FF2B5EF4-FFF2-40B4-BE49-F238E27FC236}">
                <a16:creationId xmlns:a16="http://schemas.microsoft.com/office/drawing/2014/main" id="{6E143106-2F35-444B-95FD-150A9E40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Room v2 separates durable notes from temporary capture evidence</a:t>
            </a:r>
          </a:p>
        </p:txBody>
      </p:sp>
      <p:sp>
        <p:nvSpPr>
          <p:cNvPr id="2" name="grammar-syntax">
            <a:extLst xmlns:a="http://schemas.openxmlformats.org/drawingml/2006/main">
              <a:ext uri="{FF2B5EF4-FFF2-40B4-BE49-F238E27FC236}">
                <a16:creationId xmlns:a16="http://schemas.microsoft.com/office/drawing/2014/main" id="{C8A918AE-05A6-41FC-BD6E-96ECC3CA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114014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D1117"/>
            </a:solidFill>
            <a:prstDash val="solid"/>
          </a:ln>
        </p:spPr>
      </p:sp>
      <p:sp>
        <p:nvSpPr>
          <p:cNvPr id="3" name="grammar-syntax-text">
            <a:extLst xmlns:a="http://schemas.openxmlformats.org/drawingml/2006/main">
              <a:ext uri="{FF2B5EF4-FFF2-40B4-BE49-F238E27FC236}">
                <a16:creationId xmlns:a16="http://schemas.microsoft.com/office/drawing/2014/main" id="{4B9CDBF1-52D1-4FC5-B161-8EF03216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10715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&lt;note&gt; + &lt;session&gt; + &lt;transcript&gt; + &lt;visual evidence&gt; + &lt;asset&gt; + &lt;provenance&gt;</a:t>
            </a:r>
          </a:p>
        </p:txBody>
      </p:sp>
      <p:sp>
        <p:nvSpPr>
          <p:cNvPr id="4" name="grammar-actions">
            <a:extLst xmlns:a="http://schemas.openxmlformats.org/drawingml/2006/main">
              <a:ext uri="{FF2B5EF4-FFF2-40B4-BE49-F238E27FC236}">
                <a16:creationId xmlns:a16="http://schemas.microsoft.com/office/drawing/2014/main" id="{F4C2EE9C-7C3B-48D9-95B7-3726402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5623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rammar-styles">
            <a:extLst xmlns:a="http://schemas.openxmlformats.org/drawingml/2006/main">
              <a:ext uri="{FF2B5EF4-FFF2-40B4-BE49-F238E27FC236}">
                <a16:creationId xmlns:a16="http://schemas.microsoft.com/office/drawing/2014/main" id="{7A4DBB1C-3762-4DB2-9080-72A641B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5623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grammar-controls">
            <a:extLst xmlns:a="http://schemas.openxmlformats.org/drawingml/2006/main">
              <a:ext uri="{FF2B5EF4-FFF2-40B4-BE49-F238E27FC236}">
                <a16:creationId xmlns:a16="http://schemas.microsoft.com/office/drawing/2014/main" id="{593A22B8-01A7-46A6-A412-192C1247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56235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grammar-actions-title">
            <a:extLst xmlns:a="http://schemas.openxmlformats.org/drawingml/2006/main">
              <a:ext uri="{FF2B5EF4-FFF2-40B4-BE49-F238E27FC236}">
                <a16:creationId xmlns:a16="http://schemas.microsoft.com/office/drawing/2014/main" id="{EE25574C-393A-4E7D-A733-8846D9E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33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DURABLE LIBRARY</a:t>
            </a:r>
          </a:p>
        </p:txBody>
      </p:sp>
      <p:sp>
        <p:nvSpPr>
          <p:cNvPr id="8" name="grammar-actions-body">
            <a:extLst xmlns:a="http://schemas.openxmlformats.org/drawingml/2006/main">
              <a:ext uri="{FF2B5EF4-FFF2-40B4-BE49-F238E27FC236}">
                <a16:creationId xmlns:a16="http://schemas.microsoft.com/office/drawing/2014/main" id="{AF5B4614-93E2-4D56-AF5E-B8242895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90950"/>
            <a:ext cx="2857500" cy="1495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folders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notes + blocks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syllabi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 locations</a:t>
            </a:r>
          </a:p>
        </p:txBody>
      </p:sp>
      <p:sp>
        <p:nvSpPr>
          <p:cNvPr id="9" name="grammar-styles-title">
            <a:extLst xmlns:a="http://schemas.openxmlformats.org/drawingml/2006/main">
              <a:ext uri="{FF2B5EF4-FFF2-40B4-BE49-F238E27FC236}">
                <a16:creationId xmlns:a16="http://schemas.microsoft.com/office/drawing/2014/main" id="{595CE835-DDDE-411C-B17C-499805B7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CAPTURE EVIDENCE</a:t>
            </a:r>
          </a:p>
        </p:txBody>
      </p:sp>
      <p:sp>
        <p:nvSpPr>
          <p:cNvPr id="10" name="grammar-styles-body">
            <a:extLst xmlns:a="http://schemas.openxmlformats.org/drawingml/2006/main">
              <a:ext uri="{FF2B5EF4-FFF2-40B4-BE49-F238E27FC236}">
                <a16:creationId xmlns:a16="http://schemas.microsoft.com/office/drawing/2014/main" id="{4EA0C84E-0B46-4FA2-9F17-8841E602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857500" cy="1495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ordered transcript segments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 status + temporary path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cropped diagram assets</a:t>
            </a:r>
          </a:p>
        </p:txBody>
      </p:sp>
      <p:sp>
        <p:nvSpPr>
          <p:cNvPr id="11" name="grammar-controls-title">
            <a:extLst xmlns:a="http://schemas.openxmlformats.org/drawingml/2006/main">
              <a:ext uri="{FF2B5EF4-FFF2-40B4-BE49-F238E27FC236}">
                <a16:creationId xmlns:a16="http://schemas.microsoft.com/office/drawing/2014/main" id="{940D2642-6DC0-4E0B-A6DE-57B0077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RETENTION RULES</a:t>
            </a:r>
          </a:p>
        </p:txBody>
      </p:sp>
      <p:sp>
        <p:nvSpPr>
          <p:cNvPr id="12" name="grammar-controls-body">
            <a:extLst xmlns:a="http://schemas.openxmlformats.org/drawingml/2006/main">
              <a:ext uri="{FF2B5EF4-FFF2-40B4-BE49-F238E27FC236}">
                <a16:creationId xmlns:a16="http://schemas.microsoft.com/office/drawing/2014/main" id="{BB8F7347-0D2B-40D6-97E6-4BF74AAC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857500" cy="1495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1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similar frame → delete now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processed frame → delete after commit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failed media → retain for recovery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exports → clean after 24 h</a:t>
            </a:r>
          </a:p>
        </p:txBody>
      </p:sp>
      <p:sp>
        <p:nvSpPr>
          <p:cNvPr id="13" name="grammar-note">
            <a:extLst xmlns:a="http://schemas.openxmlformats.org/drawingml/2006/main">
              <a:ext uri="{FF2B5EF4-FFF2-40B4-BE49-F238E27FC236}">
                <a16:creationId xmlns:a16="http://schemas.microsoft.com/office/drawing/2014/main" id="{1E010E79-B888-4A69-A6C0-9B689C6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2930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Every generated Markdown update carries a revision and idempotent patch ID.</a:t>
            </a:r>
          </a:p>
        </p:txBody>
      </p:sp>
      <p:sp>
        <p:nvSpPr>
          <p:cNvPr id="14" name="grammar-footer">
            <a:extLst xmlns:a="http://schemas.openxmlformats.org/drawingml/2006/main">
              <a:ext uri="{FF2B5EF4-FFF2-40B4-BE49-F238E27FC236}">
                <a16:creationId xmlns:a16="http://schemas.microsoft.com/office/drawing/2014/main" id="{0CE20419-53A9-42C6-96A8-DDC8E329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971356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9D3E7E70-0EFE-4484-A6CD-33DDF61C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YouTube and classroom trials will measure quality—not just demo success</a:t>
            </a:r>
          </a:p>
        </p:txBody>
      </p:sp>
      <p:sp>
        <p:nvSpPr>
          <p:cNvPr id="2" name="evaluation-subtitle">
            <a:extLst xmlns:a="http://schemas.openxmlformats.org/drawingml/2006/main">
              <a:ext uri="{FF2B5EF4-FFF2-40B4-BE49-F238E27FC236}">
                <a16:creationId xmlns:a16="http://schemas.microsoft.com/office/drawing/2014/main" id="{6574412B-3160-49C6-967B-B3340F83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573"/>
                </a:solidFill>
                <a:latin typeface="Helvetica Neue"/>
                <a:ea typeface="Helvetica Neue"/>
                <a:cs typeface="Helvetica Neue"/>
              </a:rPr>
              <a:t>The next corpus includes maths, science, noisy speech, fast boards, projector glare and diagrams.</a:t>
            </a:r>
          </a:p>
        </p:txBody>
      </p:sp>
      <p:sp>
        <p:nvSpPr>
          <p:cNvPr id="3" name="eval-1">
            <a:extLst xmlns:a="http://schemas.openxmlformats.org/drawingml/2006/main">
              <a:ext uri="{FF2B5EF4-FFF2-40B4-BE49-F238E27FC236}">
                <a16:creationId xmlns:a16="http://schemas.microsoft.com/office/drawing/2014/main" id="{9A100164-6165-47CB-BE7C-0E9F1EC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eval-2">
            <a:extLst xmlns:a="http://schemas.openxmlformats.org/drawingml/2006/main">
              <a:ext uri="{FF2B5EF4-FFF2-40B4-BE49-F238E27FC236}">
                <a16:creationId xmlns:a16="http://schemas.microsoft.com/office/drawing/2014/main" id="{3D27CC57-B3FF-4440-B4A1-A5DBEB7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eval-3">
            <a:extLst xmlns:a="http://schemas.openxmlformats.org/drawingml/2006/main">
              <a:ext uri="{FF2B5EF4-FFF2-40B4-BE49-F238E27FC236}">
                <a16:creationId xmlns:a16="http://schemas.microsoft.com/office/drawing/2014/main" id="{7C76BAC7-AF32-4F2F-AFA6-E5EF646A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eval-4">
            <a:extLst xmlns:a="http://schemas.openxmlformats.org/drawingml/2006/main">
              <a:ext uri="{FF2B5EF4-FFF2-40B4-BE49-F238E27FC236}">
                <a16:creationId xmlns:a16="http://schemas.microsoft.com/office/drawing/2014/main" id="{FDFD46EA-C6C1-494F-A10F-695F8B2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33800"/>
            <a:ext cx="55340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eval-t1">
            <a:extLst xmlns:a="http://schemas.openxmlformats.org/drawingml/2006/main">
              <a:ext uri="{FF2B5EF4-FFF2-40B4-BE49-F238E27FC236}">
                <a16:creationId xmlns:a16="http://schemas.microsoft.com/office/drawing/2014/main" id="{CA2C87D2-5282-4AE0-AA1A-8C82160E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Audio fidelity</a:t>
            </a:r>
          </a:p>
        </p:txBody>
      </p:sp>
      <p:sp>
        <p:nvSpPr>
          <p:cNvPr id="8" name="eval-b1">
            <a:extLst xmlns:a="http://schemas.openxmlformats.org/drawingml/2006/main">
              <a:ext uri="{FF2B5EF4-FFF2-40B4-BE49-F238E27FC236}">
                <a16:creationId xmlns:a16="http://schemas.microsoft.com/office/drawing/2014/main" id="{54BF9B48-426B-49F2-8351-846CCA37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476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Word/segment coverage, final-chunk retention and interruption recovery.</a:t>
            </a:r>
          </a:p>
        </p:txBody>
      </p:sp>
      <p:sp>
        <p:nvSpPr>
          <p:cNvPr id="9" name="eval-t2">
            <a:extLst xmlns:a="http://schemas.openxmlformats.org/drawingml/2006/main">
              <a:ext uri="{FF2B5EF4-FFF2-40B4-BE49-F238E27FC236}">
                <a16:creationId xmlns:a16="http://schemas.microsoft.com/office/drawing/2014/main" id="{B34D4FB6-EFBF-4F56-9D60-3FF8359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193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 quality</a:t>
            </a:r>
          </a:p>
        </p:txBody>
      </p:sp>
      <p:sp>
        <p:nvSpPr>
          <p:cNvPr id="10" name="eval-b2">
            <a:extLst xmlns:a="http://schemas.openxmlformats.org/drawingml/2006/main">
              <a:ext uri="{FF2B5EF4-FFF2-40B4-BE49-F238E27FC236}">
                <a16:creationId xmlns:a16="http://schemas.microsoft.com/office/drawing/2014/main" id="{BA647434-0006-4CFE-8210-E2736B4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71750"/>
            <a:ext cx="476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Key-point coverage, structure, correction precision and faithfulness.</a:t>
            </a:r>
          </a:p>
        </p:txBody>
      </p:sp>
      <p:sp>
        <p:nvSpPr>
          <p:cNvPr id="11" name="eval-t3">
            <a:extLst xmlns:a="http://schemas.openxmlformats.org/drawingml/2006/main">
              <a:ext uri="{FF2B5EF4-FFF2-40B4-BE49-F238E27FC236}">
                <a16:creationId xmlns:a16="http://schemas.microsoft.com/office/drawing/2014/main" id="{6DF04FA5-26A1-44F7-9713-3978FF36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005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 efficiency</a:t>
            </a:r>
          </a:p>
        </p:txBody>
      </p:sp>
      <p:sp>
        <p:nvSpPr>
          <p:cNvPr id="12" name="eval-b3">
            <a:extLst xmlns:a="http://schemas.openxmlformats.org/drawingml/2006/main">
              <a:ext uri="{FF2B5EF4-FFF2-40B4-BE49-F238E27FC236}">
                <a16:creationId xmlns:a16="http://schemas.microsoft.com/office/drawing/2014/main" id="{75DEC0E3-CE88-4F0B-ADEA-C0B546E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2950"/>
            <a:ext cx="476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Duplicate-frame rejection, useful-crop rate and vision calls per minute.</a:t>
            </a:r>
          </a:p>
        </p:txBody>
      </p:sp>
      <p:sp>
        <p:nvSpPr>
          <p:cNvPr id="13" name="eval-t4">
            <a:extLst xmlns:a="http://schemas.openxmlformats.org/drawingml/2006/main">
              <a:ext uri="{FF2B5EF4-FFF2-40B4-BE49-F238E27FC236}">
                <a16:creationId xmlns:a16="http://schemas.microsoft.com/office/drawing/2014/main" id="{05F3151D-F52F-4C2A-AC66-D63E5943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005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System stability</a:t>
            </a:r>
          </a:p>
        </p:txBody>
      </p:sp>
      <p:sp>
        <p:nvSpPr>
          <p:cNvPr id="14" name="eval-b4">
            <a:extLst xmlns:a="http://schemas.openxmlformats.org/drawingml/2006/main">
              <a:ext uri="{FF2B5EF4-FFF2-40B4-BE49-F238E27FC236}">
                <a16:creationId xmlns:a16="http://schemas.microsoft.com/office/drawing/2014/main" id="{756BC694-CA83-4A91-B075-F2A0E114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52950"/>
            <a:ext cx="476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End-to-end latency, battery/storage growth and stop/resume/export reliability.</a:t>
            </a:r>
          </a:p>
        </p:txBody>
      </p:sp>
      <p:sp>
        <p:nvSpPr>
          <p:cNvPr id="15" name="eval-baseline">
            <a:extLst xmlns:a="http://schemas.openxmlformats.org/drawingml/2006/main">
              <a:ext uri="{FF2B5EF4-FFF2-40B4-BE49-F238E27FC236}">
                <a16:creationId xmlns:a16="http://schemas.microsoft.com/office/drawing/2014/main" id="{978FC0C6-ECA2-425C-A8AD-93E47A64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Voice vs Video and Runnable vs Verbatim on the same timestamped source lessons.</a:t>
            </a:r>
          </a:p>
        </p:txBody>
      </p:sp>
      <p:sp>
        <p:nvSpPr>
          <p:cNvPr id="16" name="evaluation-footer">
            <a:extLst xmlns:a="http://schemas.openxmlformats.org/drawingml/2006/main">
              <a:ext uri="{FF2B5EF4-FFF2-40B4-BE49-F238E27FC236}">
                <a16:creationId xmlns:a16="http://schemas.microsoft.com/office/drawing/2014/main" id="{7A4DB53C-2CF1-48FB-BD6A-3105A43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26848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erification-title">
            <a:extLst xmlns:a="http://schemas.openxmlformats.org/drawingml/2006/main">
              <a:ext uri="{FF2B5EF4-FFF2-40B4-BE49-F238E27FC236}">
                <a16:creationId xmlns:a16="http://schemas.microsoft.com/office/drawing/2014/main" id="{E36C7627-2F3D-4297-8B80-81FB5BB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Automated and Android 16 mock evidence are green; classroom accuracy comes next</a:t>
            </a:r>
          </a:p>
        </p:txBody>
      </p:sp>
      <p:sp>
        <p:nvSpPr>
          <p:cNvPr id="2" name="verify-left">
            <a:extLst xmlns:a="http://schemas.openxmlformats.org/drawingml/2006/main">
              <a:ext uri="{FF2B5EF4-FFF2-40B4-BE49-F238E27FC236}">
                <a16:creationId xmlns:a16="http://schemas.microsoft.com/office/drawing/2014/main" id="{4EE9F65B-0CB6-46DA-A8B0-61AEDC9A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334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verify-right">
            <a:extLst xmlns:a="http://schemas.openxmlformats.org/drawingml/2006/main">
              <a:ext uri="{FF2B5EF4-FFF2-40B4-BE49-F238E27FC236}">
                <a16:creationId xmlns:a16="http://schemas.microsoft.com/office/drawing/2014/main" id="{4413A2B1-BF44-463C-A283-ED6F29F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334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verify-left-n">
            <a:extLst xmlns:a="http://schemas.openxmlformats.org/drawingml/2006/main">
              <a:ext uri="{FF2B5EF4-FFF2-40B4-BE49-F238E27FC236}">
                <a16:creationId xmlns:a16="http://schemas.microsoft.com/office/drawing/2014/main" id="{AE740C91-11E0-41E4-9B24-0964913F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PASS 1</a:t>
            </a:r>
          </a:p>
        </p:txBody>
      </p:sp>
      <p:sp>
        <p:nvSpPr>
          <p:cNvPr id="5" name="verify-left-title">
            <a:extLst xmlns:a="http://schemas.openxmlformats.org/drawingml/2006/main">
              <a:ext uri="{FF2B5EF4-FFF2-40B4-BE49-F238E27FC236}">
                <a16:creationId xmlns:a16="http://schemas.microsoft.com/office/drawing/2014/main" id="{A2086E47-B965-4CA1-90B4-391F7B96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Verified now</a:t>
            </a:r>
          </a:p>
        </p:txBody>
      </p:sp>
      <p:sp>
        <p:nvSpPr>
          <p:cNvPr id="6" name="verify-left-body">
            <a:extLst xmlns:a="http://schemas.openxmlformats.org/drawingml/2006/main">
              <a:ext uri="{FF2B5EF4-FFF2-40B4-BE49-F238E27FC236}">
                <a16:creationId xmlns:a16="http://schemas.microsoft.com/office/drawing/2014/main" id="{AC1A9AED-D411-4193-AF25-B1B4A97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2862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70 Android JVM tests / 23 suites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Debug lint: 0 errors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11 proxy contract tests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Voice partial-drain passed on Android 16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Video CameraX + audio passed on Android 16</a:t>
            </a:r>
          </a:p>
        </p:txBody>
      </p:sp>
      <p:sp>
        <p:nvSpPr>
          <p:cNvPr id="7" name="verify-right-n">
            <a:extLst xmlns:a="http://schemas.openxmlformats.org/drawingml/2006/main">
              <a:ext uri="{FF2B5EF4-FFF2-40B4-BE49-F238E27FC236}">
                <a16:creationId xmlns:a16="http://schemas.microsoft.com/office/drawing/2014/main" id="{22267145-2E1F-4530-839F-95268D3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145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PASS 2</a:t>
            </a:r>
          </a:p>
        </p:txBody>
      </p:sp>
      <p:sp>
        <p:nvSpPr>
          <p:cNvPr id="8" name="verify-right-title">
            <a:extLst xmlns:a="http://schemas.openxmlformats.org/drawingml/2006/main">
              <a:ext uri="{FF2B5EF4-FFF2-40B4-BE49-F238E27FC236}">
                <a16:creationId xmlns:a16="http://schemas.microsoft.com/office/drawing/2014/main" id="{4714E757-2797-4BC3-9737-BDCE3072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24150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1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on device</a:t>
            </a:r>
          </a:p>
        </p:txBody>
      </p:sp>
      <p:sp>
        <p:nvSpPr>
          <p:cNvPr id="9" name="verify-right-body">
            <a:extLst xmlns:a="http://schemas.openxmlformats.org/drawingml/2006/main">
              <a:ext uri="{FF2B5EF4-FFF2-40B4-BE49-F238E27FC236}">
                <a16:creationId xmlns:a16="http://schemas.microsoft.com/office/drawing/2014/main" id="{3CE882A7-9C09-462C-AA9C-A5186C90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09950"/>
            <a:ext cx="42862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Microphone + CameraX endurance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Noisy-room speaker evaluation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Diagram crop quality corpus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Rotated-key provider accuracy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YouTube lesson accuracy corpus</a:t>
            </a:r>
          </a:p>
        </p:txBody>
      </p:sp>
      <p:sp>
        <p:nvSpPr>
          <p:cNvPr id="10" name="verify-gate">
            <a:extLst xmlns:a="http://schemas.openxmlformats.org/drawingml/2006/main">
              <a:ext uri="{FF2B5EF4-FFF2-40B4-BE49-F238E27FC236}">
                <a16:creationId xmlns:a16="http://schemas.microsoft.com/office/drawing/2014/main" id="{4B53C02C-9F3F-4FED-9E15-A4E43E9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38825"/>
            <a:ext cx="1095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Both mock device sessions passed without using the exposed key; rotate it before live provider trials.</a:t>
            </a:r>
          </a:p>
        </p:txBody>
      </p:sp>
      <p:sp>
        <p:nvSpPr>
          <p:cNvPr id="11" name="verification-footer">
            <a:extLst xmlns:a="http://schemas.openxmlformats.org/drawingml/2006/main">
              <a:ext uri="{FF2B5EF4-FFF2-40B4-BE49-F238E27FC236}">
                <a16:creationId xmlns:a16="http://schemas.microsoft.com/office/drawing/2014/main" id="{38A3F548-6A7F-4E45-9360-EC82445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50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606903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D65D675-FAF7-4C08-879E-790BA666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Rotate the key.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the device endurance test.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 YouTube lesson accuracy.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D1AF5DE-0531-4C49-BEC0-C04267B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Foreground Voice + Video sessions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Markdown + diagram assets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Evidence-backed correction review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3469986-145E-4FF8-AF11-FA8B9DC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VALIDATION GATE</a:t>
            </a:r>
          </a:p>
        </p:txBody>
      </p:sp>
    </p:spTree>
    <p:extLst>
      <p:ext uri="{BB962C8B-B14F-4D97-AF65-F5344CB8AC3E}">
        <p14:creationId xmlns:p14="http://schemas.microsoft.com/office/powerpoint/2010/main" val="1677882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2026-08-03T17:00:32.8810000Z</dcterms:created>
  <dcterms:modified xsi:type="dcterms:W3CDTF">2026-08-03T17:00:32.8810000Z</dcterms:modified>
</coreProperties>
</file>