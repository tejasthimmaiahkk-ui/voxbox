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2e55589e084a0c" /><Relationship Type="http://schemas.openxmlformats.org/officeDocument/2006/relationships/extended-properties" Target="/docProps/app.xml" Id="Rd157d8cebb0b44ec" /><Relationship Type="http://schemas.openxmlformats.org/officeDocument/2006/relationships/officeDocument" Target="/ppt/presentation.xml" Id="R42aa06f9259d4c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bac79ef95944fb"/>
  </p:sldMasterIdLst>
  <p:notesMasterIdLst>
    <p:notesMasterId xmlns:r="http://schemas.openxmlformats.org/officeDocument/2006/relationships" r:id="R87433d4fc38e4bf8"/>
  </p:notesMasterIdLst>
  <p:sldIdLst>
    <p:sldId xmlns:r="http://schemas.openxmlformats.org/officeDocument/2006/relationships" id="256" r:id="R4e4a2ad9ae014b22"/>
    <p:sldId xmlns:r="http://schemas.openxmlformats.org/officeDocument/2006/relationships" id="257" r:id="R7dc8c92c3d90452f"/>
    <p:sldId xmlns:r="http://schemas.openxmlformats.org/officeDocument/2006/relationships" id="258" r:id="R70ba6ca60bae46a5"/>
    <p:sldId xmlns:r="http://schemas.openxmlformats.org/officeDocument/2006/relationships" id="259" r:id="R3520cb8c4e43483e"/>
    <p:sldId xmlns:r="http://schemas.openxmlformats.org/officeDocument/2006/relationships" id="260" r:id="Rf8993a48fc3a4fd9"/>
    <p:sldId xmlns:r="http://schemas.openxmlformats.org/officeDocument/2006/relationships" id="261" r:id="Rf41b2e94875c48e2"/>
    <p:sldId xmlns:r="http://schemas.openxmlformats.org/officeDocument/2006/relationships" id="262" r:id="R17065cda0ac64aa8"/>
    <p:sldId xmlns:r="http://schemas.openxmlformats.org/officeDocument/2006/relationships" id="263" r:id="R78d5e385587c4286"/>
    <p:sldId xmlns:r="http://schemas.openxmlformats.org/officeDocument/2006/relationships" id="264" r:id="Rec5adadf5e444bd0"/>
    <p:sldId xmlns:r="http://schemas.openxmlformats.org/officeDocument/2006/relationships" id="265" r:id="Rd41ca7157d8b4f30"/>
    <p:sldId xmlns:r="http://schemas.openxmlformats.org/officeDocument/2006/relationships" id="266" r:id="R585ca09e4d8545ff"/>
    <p:sldId xmlns:r="http://schemas.openxmlformats.org/officeDocument/2006/relationships" id="267" r:id="Rb9b697c234084555"/>
    <p:sldId xmlns:r="http://schemas.openxmlformats.org/officeDocument/2006/relationships" id="268" r:id="Rbf15c324b4e54a43"/>
    <p:sldId xmlns:r="http://schemas.openxmlformats.org/officeDocument/2006/relationships" id="269" r:id="Re8b276c1e66d486c"/>
    <p:sldId xmlns:r="http://schemas.openxmlformats.org/officeDocument/2006/relationships" id="270" r:id="R5715380be2384def"/>
    <p:sldId xmlns:r="http://schemas.openxmlformats.org/officeDocument/2006/relationships" id="271" r:id="R922a2e6936564fc1"/>
    <p:sldId xmlns:r="http://schemas.openxmlformats.org/officeDocument/2006/relationships" id="272" r:id="Rfc3b027082a14f10"/>
    <p:sldId xmlns:r="http://schemas.openxmlformats.org/officeDocument/2006/relationships" id="273" r:id="Rc47ec940251e49dd"/>
    <p:sldId xmlns:r="http://schemas.openxmlformats.org/officeDocument/2006/relationships" id="274" r:id="Rd444c45ef33042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8633f1f497404e" /><Relationship Type="http://schemas.openxmlformats.org/officeDocument/2006/relationships/slideMaster" Target="/ppt/slideMasters/slideMaster1.xml" Id="Racbac79ef95944fb" /><Relationship Type="http://schemas.openxmlformats.org/officeDocument/2006/relationships/notesMaster" Target="/ppt/notesMasters/notesMaster1.xml" Id="R87433d4fc38e4bf8" /><Relationship Type="http://schemas.openxmlformats.org/officeDocument/2006/relationships/presProps" Target="/ppt/presProps.xml" Id="R5f2df0de33a848f0" /><Relationship Type="http://schemas.openxmlformats.org/officeDocument/2006/relationships/tableStyles" Target="/ppt/tableStyles.xml" Id="R5628e9ac6aca4d1f" /><Relationship Type="http://schemas.openxmlformats.org/officeDocument/2006/relationships/slide" Target="/ppt/slides/slide1.xml" Id="R4e4a2ad9ae014b22" /><Relationship Type="http://schemas.openxmlformats.org/officeDocument/2006/relationships/slide" Target="/ppt/slides/slide2.xml" Id="R7dc8c92c3d90452f" /><Relationship Type="http://schemas.openxmlformats.org/officeDocument/2006/relationships/slide" Target="/ppt/slides/slide3.xml" Id="R70ba6ca60bae46a5" /><Relationship Type="http://schemas.openxmlformats.org/officeDocument/2006/relationships/slide" Target="/ppt/slides/slide4.xml" Id="R3520cb8c4e43483e" /><Relationship Type="http://schemas.openxmlformats.org/officeDocument/2006/relationships/slide" Target="/ppt/slides/slide5.xml" Id="Rf8993a48fc3a4fd9" /><Relationship Type="http://schemas.openxmlformats.org/officeDocument/2006/relationships/slide" Target="/ppt/slides/slide6.xml" Id="Rf41b2e94875c48e2" /><Relationship Type="http://schemas.openxmlformats.org/officeDocument/2006/relationships/slide" Target="/ppt/slides/slide7.xml" Id="R17065cda0ac64aa8" /><Relationship Type="http://schemas.openxmlformats.org/officeDocument/2006/relationships/slide" Target="/ppt/slides/slide8.xml" Id="R78d5e385587c4286" /><Relationship Type="http://schemas.openxmlformats.org/officeDocument/2006/relationships/slide" Target="/ppt/slides/slide9.xml" Id="Rec5adadf5e444bd0" /><Relationship Type="http://schemas.openxmlformats.org/officeDocument/2006/relationships/slide" Target="/ppt/slides/slide10.xml" Id="Rd41ca7157d8b4f30" /><Relationship Type="http://schemas.openxmlformats.org/officeDocument/2006/relationships/slide" Target="/ppt/slides/slide11.xml" Id="R585ca09e4d8545ff" /><Relationship Type="http://schemas.openxmlformats.org/officeDocument/2006/relationships/slide" Target="/ppt/slides/slide12.xml" Id="Rb9b697c234084555" /><Relationship Type="http://schemas.openxmlformats.org/officeDocument/2006/relationships/slide" Target="/ppt/slides/slide13.xml" Id="Rbf15c324b4e54a43" /><Relationship Type="http://schemas.openxmlformats.org/officeDocument/2006/relationships/slide" Target="/ppt/slides/slide14.xml" Id="Re8b276c1e66d486c" /><Relationship Type="http://schemas.openxmlformats.org/officeDocument/2006/relationships/slide" Target="/ppt/slides/slide15.xml" Id="R5715380be2384def" /><Relationship Type="http://schemas.openxmlformats.org/officeDocument/2006/relationships/slide" Target="/ppt/slides/slide16.xml" Id="R922a2e6936564fc1" /><Relationship Type="http://schemas.openxmlformats.org/officeDocument/2006/relationships/slide" Target="/ppt/slides/slide17.xml" Id="Rfc3b027082a14f10" /><Relationship Type="http://schemas.openxmlformats.org/officeDocument/2006/relationships/slide" Target="/ppt/slides/slide18.xml" Id="Rc47ec940251e49dd" /><Relationship Type="http://schemas.openxmlformats.org/officeDocument/2006/relationships/slide" Target="/ppt/slides/slide19.xml" Id="Rd444c45ef33042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892cce7e0546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03fc98dcfc413c" /><Relationship Type="http://schemas.openxmlformats.org/officeDocument/2006/relationships/notesMaster" Target="/ppt/notesMasters/notesMaster1.xml" Id="R58955485776246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5c92b9cd174fab" /><Relationship Type="http://schemas.openxmlformats.org/officeDocument/2006/relationships/notesMaster" Target="/ppt/notesMasters/notesMaster1.xml" Id="R830691335f8940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00f082d39446ec" /><Relationship Type="http://schemas.openxmlformats.org/officeDocument/2006/relationships/notesMaster" Target="/ppt/notesMasters/notesMaster1.xml" Id="Rfbbc6f3ea9944d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d37a0609ea4035" /><Relationship Type="http://schemas.openxmlformats.org/officeDocument/2006/relationships/notesMaster" Target="/ppt/notesMasters/notesMaster1.xml" Id="R50a99f389b944e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8e4340eb234bfa" /><Relationship Type="http://schemas.openxmlformats.org/officeDocument/2006/relationships/notesMaster" Target="/ppt/notesMasters/notesMaster1.xml" Id="R5df0456a098f49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86f2d0004d4f90" /><Relationship Type="http://schemas.openxmlformats.org/officeDocument/2006/relationships/notesMaster" Target="/ppt/notesMasters/notesMaster1.xml" Id="R0de74022bd6b4a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fa2b3ed5b64be3" /><Relationship Type="http://schemas.openxmlformats.org/officeDocument/2006/relationships/notesMaster" Target="/ppt/notesMasters/notesMaster1.xml" Id="R8765ac75adac43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ef4fe2776a4906" /><Relationship Type="http://schemas.openxmlformats.org/officeDocument/2006/relationships/notesMaster" Target="/ppt/notesMasters/notesMaster1.xml" Id="Rde3873632b1248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7fd9d93d164e0f" /><Relationship Type="http://schemas.openxmlformats.org/officeDocument/2006/relationships/notesMaster" Target="/ppt/notesMasters/notesMaster1.xml" Id="Ra6901292f11945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9849c0b4e04283" /><Relationship Type="http://schemas.openxmlformats.org/officeDocument/2006/relationships/notesMaster" Target="/ppt/notesMasters/notesMaster1.xml" Id="Rb4c6a58315d842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3025a7cf804195" /><Relationship Type="http://schemas.openxmlformats.org/officeDocument/2006/relationships/notesMaster" Target="/ppt/notesMasters/notesMaster1.xml" Id="R28215e7b95424a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459745f7fc497e" /><Relationship Type="http://schemas.openxmlformats.org/officeDocument/2006/relationships/notesMaster" Target="/ppt/notesMasters/notesMaster1.xml" Id="Re787ad53f4674d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7bed61e37c4c50" /><Relationship Type="http://schemas.openxmlformats.org/officeDocument/2006/relationships/notesMaster" Target="/ppt/notesMasters/notesMaster1.xml" Id="R61b1c9e4d82a44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9a3e91fe744a28" /><Relationship Type="http://schemas.openxmlformats.org/officeDocument/2006/relationships/notesMaster" Target="/ppt/notesMasters/notesMaster1.xml" Id="Rf6081cd4372348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c123a8ce1d4cc7" /><Relationship Type="http://schemas.openxmlformats.org/officeDocument/2006/relationships/notesMaster" Target="/ppt/notesMasters/notesMaster1.xml" Id="Re78f1919aa7e46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c6f1f87b864f84" /><Relationship Type="http://schemas.openxmlformats.org/officeDocument/2006/relationships/notesMaster" Target="/ppt/notesMasters/notesMaster1.xml" Id="R561a522c2c754a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07c53151814745" /><Relationship Type="http://schemas.openxmlformats.org/officeDocument/2006/relationships/notesMaster" Target="/ppt/notesMasters/notesMaster1.xml" Id="R10c22949163047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7dc4af064546c3" /><Relationship Type="http://schemas.openxmlformats.org/officeDocument/2006/relationships/notesMaster" Target="/ppt/notesMasters/notesMaster1.xml" Id="R96364be4c34849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1d3e20d4bf4803" /><Relationship Type="http://schemas.openxmlformats.org/officeDocument/2006/relationships/notesMaster" Target="/ppt/notesMasters/notesMaster1.xml" Id="R08cae3a3482141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d89b0546346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0ace4bd0c34930" /><Relationship Type="http://schemas.openxmlformats.org/officeDocument/2006/relationships/slideLayout" Target="/ppt/slideLayouts/slideLayout1.xml" Id="R889077c889704b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9077c889704b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e0b6e3dff4c7b" /><Relationship Type="http://schemas.openxmlformats.org/officeDocument/2006/relationships/notesSlide" Target="/ppt/notesSlides/notesSlide1.xml" Id="R2169fa2a1baa45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6ca811d044b40" /><Relationship Type="http://schemas.openxmlformats.org/officeDocument/2006/relationships/notesSlide" Target="/ppt/notesSlides/notesSlide2.xml" Id="Rc42aaa02aeab43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8a64d85864a7e" /><Relationship Type="http://schemas.openxmlformats.org/officeDocument/2006/relationships/notesSlide" Target="/ppt/notesSlides/notesSlide3.xml" Id="R7e1947c67a464d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98d7dec4e4c22" /><Relationship Type="http://schemas.openxmlformats.org/officeDocument/2006/relationships/notesSlide" Target="/ppt/notesSlides/notesSlide4.xml" Id="R01f6459695864c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367c08fa24cd4" /><Relationship Type="http://schemas.openxmlformats.org/officeDocument/2006/relationships/chart" Target="/ppt/slides/charts/chart1.xml" Id="Rdf8392a3173b4dcf" /><Relationship Type="http://schemas.openxmlformats.org/officeDocument/2006/relationships/notesSlide" Target="/ppt/notesSlides/notesSlide5.xml" Id="Rfdce0a86c05f44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f381fc0cc4b69" /><Relationship Type="http://schemas.openxmlformats.org/officeDocument/2006/relationships/notesSlide" Target="/ppt/notesSlides/notesSlide6.xml" Id="R09a7b5b1cf2640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69ed8df6a4999" /><Relationship Type="http://schemas.openxmlformats.org/officeDocument/2006/relationships/notesSlide" Target="/ppt/notesSlides/notesSlide7.xml" Id="R6c2318c707194c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fd83ceaac4290" /><Relationship Type="http://schemas.openxmlformats.org/officeDocument/2006/relationships/notesSlide" Target="/ppt/notesSlides/notesSlide8.xml" Id="R99b9e681fd9f43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f5263c96b490e" /><Relationship Type="http://schemas.openxmlformats.org/officeDocument/2006/relationships/notesSlide" Target="/ppt/notesSlides/notesSlide9.xml" Id="R7de5b5d66e9148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fb3ae38674272" /><Relationship Type="http://schemas.openxmlformats.org/officeDocument/2006/relationships/notesSlide" Target="/ppt/notesSlides/notesSlide10.xml" Id="Rb20e56b146ef4e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e56e60efd4326" /><Relationship Type="http://schemas.openxmlformats.org/officeDocument/2006/relationships/notesSlide" Target="/ppt/notesSlides/notesSlide11.xml" Id="R3c59932a49a849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6a12c8a424050" /><Relationship Type="http://schemas.openxmlformats.org/officeDocument/2006/relationships/notesSlide" Target="/ppt/notesSlides/notesSlide12.xml" Id="R6533d35a48c447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4fea56b854d01" /><Relationship Type="http://schemas.openxmlformats.org/officeDocument/2006/relationships/notesSlide" Target="/ppt/notesSlides/notesSlide13.xml" Id="R22fb77fd654642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add76639648ea" /><Relationship Type="http://schemas.openxmlformats.org/officeDocument/2006/relationships/notesSlide" Target="/ppt/notesSlides/notesSlide14.xml" Id="R53387f8c8eb54a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4f5a8073d4ba1" /><Relationship Type="http://schemas.openxmlformats.org/officeDocument/2006/relationships/notesSlide" Target="/ppt/notesSlides/notesSlide15.xml" Id="R5b6ce924799a43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4da4a1acb4204" /><Relationship Type="http://schemas.openxmlformats.org/officeDocument/2006/relationships/notesSlide" Target="/ppt/notesSlides/notesSlide16.xml" Id="R5f9bb49819154b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c4dd1d3464c07" /><Relationship Type="http://schemas.openxmlformats.org/officeDocument/2006/relationships/notesSlide" Target="/ppt/notesSlides/notesSlide17.xml" Id="Rab3bbec0d97c4c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f48f562e24144" /><Relationship Type="http://schemas.openxmlformats.org/officeDocument/2006/relationships/notesSlide" Target="/ppt/notesSlides/notesSlide18.xml" Id="Rf150827c069844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ca902cf7c4ffc" /><Relationship Type="http://schemas.openxmlformats.org/officeDocument/2006/relationships/notesSlide" Target="/ppt/notesSlides/notesSlide19.xml" Id="Rf493e5e2ba414b5a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Share</c:v>
          </c:tx>
          <c:dPt>
            <c:idx val="0"/>
            <c:spPr>
              <a:solidFill xmlns:a="http://schemas.openxmlformats.org/drawingml/2006/main">
                <a:srgbClr val="F6C945"/>
              </a:solidFill>
              <a:ln xmlns:a="http://schemas.openxmlformats.org/drawingml/2006/main" w="9525">
                <a:solidFill>
                  <a:srgbClr val="C79C00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FFFFFF"/>
              </a:solidFill>
              <a:ln xmlns:a="http://schemas.openxmlformats.org/drawingml/2006/main" w="9525">
                <a:solidFill>
                  <a:srgbClr val="B8BCC4"/>
                </a:solidFill>
                <a:prstDash val="solid"/>
              </a:ln>
            </c:spPr>
          </c:dPt>
          <c:cat>
            <c:strLit>
              <c:ptCount val="2"/>
              <c:pt idx="0">
                <c:v>Wheat</c:v>
              </c:pt>
              <c:pt idx="1">
                <c:v>Remaining</c:v>
              </c:pt>
            </c:strLit>
          </c:cat>
          <c:val>
            <c:numLit>
              <c:formatCode>General</c:formatCode>
              <c:ptCount val="2"/>
              <c:pt idx="0">
                <c:v>25</c:v>
              </c:pt>
              <c:pt idx="1">
                <c:v>75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0"/>
      </c:doughnutChart>
      <c:spPr>
        <a:ln xmlns:a="http://schemas.openxmlformats.org/drawingml/2006/main">
          <a:solidFill>
            <a:srgbClr val="FFFFFF"/>
          </a:solidFill>
        </a:ln>
      </c:spPr>
    </c:plotArea>
    <c:plotVisOnly val="1"/>
  </c:chart>
  <c:spPr>
    <a:ln xmlns:a="http://schemas.openxmlformats.org/drawingml/2006/main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F49E8F4-8EB7-45A3-A10E-41D0182A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VoxBox
Voice-to-structured visual notes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C7FFABD-3FBB-4B01-936B-8A122E2C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Android • AI-assisted • offline-first core
Two months • zero-budget plan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F2EEC8A-F914-4396-B833-654A743D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24BCAPJ • REVIEW MEETING 1</a:t>
            </a:r>
          </a:p>
        </p:txBody>
      </p:sp>
    </p:spTree>
    <p:extLst>
      <p:ext uri="{BB962C8B-B14F-4D97-AF65-F5344CB8AC3E}">
        <p14:creationId xmlns:p14="http://schemas.microsoft.com/office/powerpoint/2010/main" val="13530177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28C1CE6-8E67-4B4E-A17E-E0AE4C40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82D76D6-20F4-43D5-89F4-BD2D0BB8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D73CCB47-8FB5-4E0C-8ECA-DF8CC55E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DF05ADD-2C09-4F80-A25B-4646451D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313A0B1-5871-4121-A60A-7AD061D7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scope is optimized for the marks that carry the project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5043FE6-8043-43F2-A162-C57F934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marks for the live demonstration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5CB8103-C560-4A6D-8615-AD75B971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paid services required for the core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B5D1261-A443-415F-A5F5-79287344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planned delivery window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06085931-F861-434D-BF71-C79D0ABE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FD9CCBB-455D-4C1C-ADA8-A2BE3987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weeks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6298B27-D812-4FD9-99C9-B3E015CF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F01A4CD-3BA8-4215-A6F1-07E4C48B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8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Assessment fit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dependable physical-device demonstration anchors the work. The same verified milestones feed writing, report, viva and all three review meetings.</a:t>
            </a:r>
          </a:p>
        </p:txBody>
      </p:sp>
    </p:spTree>
    <p:extLst>
      <p:ext uri="{BB962C8B-B14F-4D97-AF65-F5344CB8AC3E}">
        <p14:creationId xmlns:p14="http://schemas.microsoft.com/office/powerpoint/2010/main" val="3550223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1112B646-9150-4C88-95EA-175271E3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Voice capture is fast—but ordinary dictation produces flat text</a:t>
            </a:r>
          </a:p>
        </p:txBody>
      </p:sp>
      <p:sp>
        <p:nvSpPr>
          <p:cNvPr id="2" name="problem-subtitle">
            <a:extLst xmlns:a="http://schemas.openxmlformats.org/drawingml/2006/main">
              <a:ext uri="{FF2B5EF4-FFF2-40B4-BE49-F238E27FC236}">
                <a16:creationId xmlns:a16="http://schemas.microsoft.com/office/drawing/2014/main" id="{52B3ED06-DA13-4F57-87D7-8A6F248E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The design goal is to preserve the speed of speech while producing editable, visual note blocks.</a:t>
            </a:r>
          </a:p>
        </p:txBody>
      </p:sp>
      <p:sp>
        <p:nvSpPr>
          <p:cNvPr id="3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DF41098B-3FF4-415E-B8A1-396DFC75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0482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E8C66FEB-0B82-4079-AA0C-164E34AB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4292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oblem-left-label">
            <a:extLst xmlns:a="http://schemas.openxmlformats.org/drawingml/2006/main">
              <a:ext uri="{FF2B5EF4-FFF2-40B4-BE49-F238E27FC236}">
                <a16:creationId xmlns:a16="http://schemas.microsoft.com/office/drawing/2014/main" id="{E30CE96A-7322-4759-A5EF-53F1740B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02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EF6A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F6A6A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6" name="problem-flat">
            <a:extLst xmlns:a="http://schemas.openxmlformats.org/drawingml/2006/main">
              <a:ext uri="{FF2B5EF4-FFF2-40B4-BE49-F238E27FC236}">
                <a16:creationId xmlns:a16="http://schemas.microsoft.com/office/drawing/2014/main" id="{7EE2C3CD-8AB5-431D-84BE-522692B7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95550"/>
            <a:ext cx="4305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Photosynthesis converts light into chemical energy full stop next heading factors affecting photosynthesis bullet point light intensity bullet point carbon dioxide...</a:t>
            </a:r>
          </a:p>
        </p:txBody>
      </p:sp>
      <p:sp>
        <p:nvSpPr>
          <p:cNvPr id="7" name="problem-left-cost">
            <a:extLst xmlns:a="http://schemas.openxmlformats.org/drawingml/2006/main">
              <a:ext uri="{FF2B5EF4-FFF2-40B4-BE49-F238E27FC236}">
                <a16:creationId xmlns:a16="http://schemas.microsoft.com/office/drawing/2014/main" id="{E191F047-A1F5-45A9-A919-6736409D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33950"/>
            <a:ext cx="430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5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user must stop, edit, format and reorganize after speaking.</a:t>
            </a:r>
          </a:p>
        </p:txBody>
      </p:sp>
      <p:sp>
        <p:nvSpPr>
          <p:cNvPr id="8" name="problem-right-label">
            <a:extLst xmlns:a="http://schemas.openxmlformats.org/drawingml/2006/main">
              <a:ext uri="{FF2B5EF4-FFF2-40B4-BE49-F238E27FC236}">
                <a16:creationId xmlns:a16="http://schemas.microsoft.com/office/drawing/2014/main" id="{72163585-16DF-41C3-BA2D-EDBE6E50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OPPORTUNITY</a:t>
            </a:r>
          </a:p>
        </p:txBody>
      </p:sp>
      <p:sp>
        <p:nvSpPr>
          <p:cNvPr id="9" name="problem-h1">
            <a:extLst xmlns:a="http://schemas.openxmlformats.org/drawingml/2006/main">
              <a:ext uri="{FF2B5EF4-FFF2-40B4-BE49-F238E27FC236}">
                <a16:creationId xmlns:a16="http://schemas.microsoft.com/office/drawing/2014/main" id="{A90F749E-5F16-4DDD-82F6-C28CDBB2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14600"/>
            <a:ext cx="4191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4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3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Photosynthesis</a:t>
            </a:r>
          </a:p>
        </p:txBody>
      </p:sp>
      <p:sp>
        <p:nvSpPr>
          <p:cNvPr id="10" name="problem-paragraph">
            <a:extLst xmlns:a="http://schemas.openxmlformats.org/drawingml/2006/main">
              <a:ext uri="{FF2B5EF4-FFF2-40B4-BE49-F238E27FC236}">
                <a16:creationId xmlns:a16="http://schemas.microsoft.com/office/drawing/2014/main" id="{42DA12AA-A405-45E3-850C-7A412C13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419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Converts light into chemical energy.</a:t>
            </a:r>
          </a:p>
        </p:txBody>
      </p:sp>
      <p:sp>
        <p:nvSpPr>
          <p:cNvPr id="11" name="problem-list">
            <a:extLst xmlns:a="http://schemas.openxmlformats.org/drawingml/2006/main">
              <a:ext uri="{FF2B5EF4-FFF2-40B4-BE49-F238E27FC236}">
                <a16:creationId xmlns:a16="http://schemas.microsoft.com/office/drawing/2014/main" id="{4D982CCE-2787-487E-83BA-7EB8922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4000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Light intensity
• Carbon dioxide
• Temperature</a:t>
            </a:r>
          </a:p>
        </p:txBody>
      </p:sp>
      <p:sp>
        <p:nvSpPr>
          <p:cNvPr id="12" name="problem-right-win">
            <a:extLst xmlns:a="http://schemas.openxmlformats.org/drawingml/2006/main">
              <a:ext uri="{FF2B5EF4-FFF2-40B4-BE49-F238E27FC236}">
                <a16:creationId xmlns:a16="http://schemas.microsoft.com/office/drawing/2014/main" id="{281B3098-F9C4-4C29-BEB6-F02DC782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81575"/>
            <a:ext cx="4286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97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note that is usable immediately—not a transcript waiting for cleanup.</a:t>
            </a:r>
          </a:p>
        </p:txBody>
      </p:sp>
      <p:cxnSp>
        <p:nvCxnSpPr>
          <p:cNvPr id="27" name="problem-arrow"/>
          <p:cNvCxnSpPr/>
          <p:nvPr/>
        </p:nvCxnSpPr>
        <p:spPr>
          <a:xfrm xmlns:a="http://schemas.openxmlformats.org/drawingml/2006/main">
            <a:off x="5505450" y="3562350"/>
            <a:ext cx="74295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14" name="problem-footer">
            <a:extLst xmlns:a="http://schemas.openxmlformats.org/drawingml/2006/main">
              <a:ext uri="{FF2B5EF4-FFF2-40B4-BE49-F238E27FC236}">
                <a16:creationId xmlns:a16="http://schemas.microsoft.com/office/drawing/2014/main" id="{B013DCCA-324F-43E6-9710-5E40DF83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07803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olution-flow-title">
            <a:extLst xmlns:a="http://schemas.openxmlformats.org/drawingml/2006/main">
              <a:ext uri="{FF2B5EF4-FFF2-40B4-BE49-F238E27FC236}">
                <a16:creationId xmlns:a16="http://schemas.microsoft.com/office/drawing/2014/main" id="{F49393C3-7630-49E4-AF4F-FC9E75C5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stages turn speech into structured notes</a:t>
            </a:r>
          </a:p>
        </p:txBody>
      </p:sp>
      <p:sp>
        <p:nvSpPr>
          <p:cNvPr id="2" name="solution-flow-subtitle">
            <a:extLst xmlns:a="http://schemas.openxmlformats.org/drawingml/2006/main">
              <a:ext uri="{FF2B5EF4-FFF2-40B4-BE49-F238E27FC236}">
                <a16:creationId xmlns:a16="http://schemas.microsoft.com/office/drawing/2014/main" id="{6238B2BC-9006-45B2-BD1D-8B123F2B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Deterministic capture, parsing, rendering and saving work first; optional AI enhancement comes later.</a:t>
            </a:r>
          </a:p>
        </p:txBody>
      </p:sp>
      <p:sp>
        <p:nvSpPr>
          <p:cNvPr id="3" name="flow-0">
            <a:extLst xmlns:a="http://schemas.openxmlformats.org/drawingml/2006/main">
              <a:ext uri="{FF2B5EF4-FFF2-40B4-BE49-F238E27FC236}">
                <a16:creationId xmlns:a16="http://schemas.microsoft.com/office/drawing/2014/main" id="{238D24C8-6121-436C-B21B-6D3CC64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low-num-0">
            <a:extLst xmlns:a="http://schemas.openxmlformats.org/drawingml/2006/main">
              <a:ext uri="{FF2B5EF4-FFF2-40B4-BE49-F238E27FC236}">
                <a16:creationId xmlns:a16="http://schemas.microsoft.com/office/drawing/2014/main" id="{888DC9DD-4153-4FC1-BAAA-766A29B7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DE5F9170-2A7E-4086-997F-4D0CB300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Speak</a:t>
            </a:r>
          </a:p>
        </p:txBody>
      </p:sp>
      <p:sp>
        <p:nvSpPr>
          <p:cNvPr id="6" name="flow-body-0">
            <a:extLst xmlns:a="http://schemas.openxmlformats.org/drawingml/2006/main">
              <a:ext uri="{FF2B5EF4-FFF2-40B4-BE49-F238E27FC236}">
                <a16:creationId xmlns:a16="http://schemas.microsoft.com/office/drawing/2014/main" id="{08B5F5E7-A677-4EB4-9DFD-59A62C6C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Native Android speech recognition</a:t>
            </a:r>
          </a:p>
        </p:txBody>
      </p:sp>
      <p:cxnSp>
        <p:nvCxnSpPr>
          <p:cNvPr id="36" name="flow-connector-0"/>
          <p:cNvCxnSpPr/>
          <p:nvPr/>
        </p:nvCxnSpPr>
        <p:spPr>
          <a:xfrm xmlns:a="http://schemas.openxmlformats.org/drawingml/2006/main">
            <a:off x="2343150" y="337185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E8930BE2-3466-40B6-AEE4-3DBF22D0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flow-num-1">
            <a:extLst xmlns:a="http://schemas.openxmlformats.org/drawingml/2006/main">
              <a:ext uri="{FF2B5EF4-FFF2-40B4-BE49-F238E27FC236}">
                <a16:creationId xmlns:a16="http://schemas.microsoft.com/office/drawing/2014/main" id="{C9CD013B-E380-4B50-A35F-509FF143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33BCCEEE-C62A-49A3-8C43-46E55641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Parse</a:t>
            </a:r>
          </a:p>
        </p:txBody>
      </p:sp>
      <p:sp>
        <p:nvSpPr>
          <p:cNvPr id="11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6119C55-C9B5-4717-BD6A-DDFAB8B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VoxScript detects intent and values</a:t>
            </a:r>
          </a:p>
        </p:txBody>
      </p:sp>
      <p:cxnSp>
        <p:nvCxnSpPr>
          <p:cNvPr id="41" name="flow-connector-1"/>
          <p:cNvCxnSpPr/>
          <p:nvPr/>
        </p:nvCxnSpPr>
        <p:spPr>
          <a:xfrm xmlns:a="http://schemas.openxmlformats.org/drawingml/2006/main">
            <a:off x="4686300" y="337185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3" name="flow-2">
            <a:extLst xmlns:a="http://schemas.openxmlformats.org/drawingml/2006/main">
              <a:ext uri="{FF2B5EF4-FFF2-40B4-BE49-F238E27FC236}">
                <a16:creationId xmlns:a16="http://schemas.microsoft.com/office/drawing/2014/main" id="{3A78B601-7CF8-4F10-8BCA-0D53898A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flow-num-2">
            <a:extLst xmlns:a="http://schemas.openxmlformats.org/drawingml/2006/main">
              <a:ext uri="{FF2B5EF4-FFF2-40B4-BE49-F238E27FC236}">
                <a16:creationId xmlns:a16="http://schemas.microsoft.com/office/drawing/2014/main" id="{B5EECD85-DC3C-442B-B451-98CADC2F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98288CF-FF8D-467A-A1A7-7C14F634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92A690F-5B8C-4DBE-8F6E-D32D7070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Typed note blocks and visual objects</a:t>
            </a:r>
          </a:p>
        </p:txBody>
      </p:sp>
      <p:cxnSp>
        <p:nvCxnSpPr>
          <p:cNvPr id="46" name="flow-connector-2"/>
          <p:cNvCxnSpPr/>
          <p:nvPr/>
        </p:nvCxnSpPr>
        <p:spPr>
          <a:xfrm xmlns:a="http://schemas.openxmlformats.org/drawingml/2006/main">
            <a:off x="7029450" y="337185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8" name="flow-3">
            <a:extLst xmlns:a="http://schemas.openxmlformats.org/drawingml/2006/main">
              <a:ext uri="{FF2B5EF4-FFF2-40B4-BE49-F238E27FC236}">
                <a16:creationId xmlns:a16="http://schemas.microsoft.com/office/drawing/2014/main" id="{57A50B57-A404-4904-8694-6C64257A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flow-num-3">
            <a:extLst xmlns:a="http://schemas.openxmlformats.org/drawingml/2006/main">
              <a:ext uri="{FF2B5EF4-FFF2-40B4-BE49-F238E27FC236}">
                <a16:creationId xmlns:a16="http://schemas.microsoft.com/office/drawing/2014/main" id="{1981B120-2B4B-4E9C-877E-D295F573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40CC718F-AF18-4D7C-9312-43A50353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Save</a:t>
            </a:r>
          </a:p>
        </p:txBody>
      </p:sp>
      <p:sp>
        <p:nvSpPr>
          <p:cNvPr id="21" name="flow-body-3">
            <a:extLst xmlns:a="http://schemas.openxmlformats.org/drawingml/2006/main">
              <a:ext uri="{FF2B5EF4-FFF2-40B4-BE49-F238E27FC236}">
                <a16:creationId xmlns:a16="http://schemas.microsoft.com/office/drawing/2014/main" id="{DFA225A6-7599-486E-A852-6BC0C554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Local Room database and search</a:t>
            </a:r>
          </a:p>
        </p:txBody>
      </p:sp>
      <p:cxnSp>
        <p:nvCxnSpPr>
          <p:cNvPr id="51" name="flow-connector-3"/>
          <p:cNvCxnSpPr/>
          <p:nvPr/>
        </p:nvCxnSpPr>
        <p:spPr>
          <a:xfrm xmlns:a="http://schemas.openxmlformats.org/drawingml/2006/main">
            <a:off x="9372600" y="337185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3" name="flow-4">
            <a:extLst xmlns:a="http://schemas.openxmlformats.org/drawingml/2006/main">
              <a:ext uri="{FF2B5EF4-FFF2-40B4-BE49-F238E27FC236}">
                <a16:creationId xmlns:a16="http://schemas.microsoft.com/office/drawing/2014/main" id="{97959256-F9BF-4EB6-A760-784ABCFA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flow-num-4">
            <a:extLst xmlns:a="http://schemas.openxmlformats.org/drawingml/2006/main">
              <a:ext uri="{FF2B5EF4-FFF2-40B4-BE49-F238E27FC236}">
                <a16:creationId xmlns:a16="http://schemas.microsoft.com/office/drawing/2014/main" id="{3CA744F8-B45F-4022-B30A-CDC854CB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B9E31926-F529-4F0E-AD0D-8BCE3A44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Enhance</a:t>
            </a:r>
          </a:p>
        </p:txBody>
      </p:sp>
      <p:sp>
        <p:nvSpPr>
          <p:cNvPr id="26" name="flow-body-4">
            <a:extLst xmlns:a="http://schemas.openxmlformats.org/drawingml/2006/main">
              <a:ext uri="{FF2B5EF4-FFF2-40B4-BE49-F238E27FC236}">
                <a16:creationId xmlns:a16="http://schemas.microsoft.com/office/drawing/2014/main" id="{51104873-57CF-4B66-8467-676F6422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Optional AI, only when enabled</a:t>
            </a:r>
          </a:p>
        </p:txBody>
      </p:sp>
      <p:sp>
        <p:nvSpPr>
          <p:cNvPr id="27" name="flow-core">
            <a:extLst xmlns:a="http://schemas.openxmlformats.org/drawingml/2006/main">
              <a:ext uri="{FF2B5EF4-FFF2-40B4-BE49-F238E27FC236}">
                <a16:creationId xmlns:a16="http://schemas.microsoft.com/office/drawing/2014/main" id="{B05CF5F8-81FD-45E5-B36F-2C44084F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781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API key required for steps 1–4</a:t>
            </a:r>
          </a:p>
        </p:txBody>
      </p:sp>
      <p:sp>
        <p:nvSpPr>
          <p:cNvPr id="28" name="flow-ai">
            <a:extLst xmlns:a="http://schemas.openxmlformats.org/drawingml/2006/main">
              <a:ext uri="{FF2B5EF4-FFF2-40B4-BE49-F238E27FC236}">
                <a16:creationId xmlns:a16="http://schemas.microsoft.com/office/drawing/2014/main" id="{B5A0312F-E745-488C-89C7-FDADD5D2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953000"/>
            <a:ext cx="42957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5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AI is a replaceable provider—not a dependency of the core demo.</a:t>
            </a:r>
          </a:p>
        </p:txBody>
      </p:sp>
      <p:sp>
        <p:nvSpPr>
          <p:cNvPr id="29" name="solution-flow-footer">
            <a:extLst xmlns:a="http://schemas.openxmlformats.org/drawingml/2006/main">
              <a:ext uri="{FF2B5EF4-FFF2-40B4-BE49-F238E27FC236}">
                <a16:creationId xmlns:a16="http://schemas.microsoft.com/office/drawing/2014/main" id="{CE6805E0-9C34-412F-A9EB-4EDC59C3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27813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mmand-example-title">
            <a:extLst xmlns:a="http://schemas.openxmlformats.org/drawingml/2006/main">
              <a:ext uri="{FF2B5EF4-FFF2-40B4-BE49-F238E27FC236}">
                <a16:creationId xmlns:a16="http://schemas.microsoft.com/office/drawing/2014/main" id="{58CA5780-C550-4D71-A36C-B803A72F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spoken command becomes a chart block—not plain text</a:t>
            </a:r>
          </a:p>
        </p:txBody>
      </p:sp>
      <p:sp>
        <p:nvSpPr>
          <p:cNvPr id="2" name="command-example-subtitle">
            <a:extLst xmlns:a="http://schemas.openxmlformats.org/drawingml/2006/main">
              <a:ext uri="{FF2B5EF4-FFF2-40B4-BE49-F238E27FC236}">
                <a16:creationId xmlns:a16="http://schemas.microsoft.com/office/drawing/2014/main" id="{FE4161F8-75E7-4107-A02D-98B3677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The command prefix is configurable—“Tejas” can be replaced with “Vox”, “Note”, or a custom alias.</a:t>
            </a:r>
          </a:p>
        </p:txBody>
      </p:sp>
      <p:sp>
        <p:nvSpPr>
          <p:cNvPr id="3" name="command-bubble">
            <a:extLst xmlns:a="http://schemas.openxmlformats.org/drawingml/2006/main">
              <a:ext uri="{FF2B5EF4-FFF2-40B4-BE49-F238E27FC236}">
                <a16:creationId xmlns:a16="http://schemas.microsoft.com/office/drawing/2014/main" id="{E3F4409D-ACA2-4683-A556-19D28562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62125"/>
            <a:ext cx="5143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command-prompt">
            <a:extLst xmlns:a="http://schemas.openxmlformats.org/drawingml/2006/main">
              <a:ext uri="{FF2B5EF4-FFF2-40B4-BE49-F238E27FC236}">
                <a16:creationId xmlns:a16="http://schemas.microsoft.com/office/drawing/2014/main" id="{98ABC7CE-CB75-4FE2-B14A-1766FFFB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3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“Tejas, pie chart, 25 percent, yellow, label wheat.”</a:t>
            </a:r>
          </a:p>
        </p:txBody>
      </p:sp>
      <p:sp>
        <p:nvSpPr>
          <p:cNvPr id="5" name="command-arrow-label">
            <a:extLst xmlns:a="http://schemas.openxmlformats.org/drawingml/2006/main">
              <a:ext uri="{FF2B5EF4-FFF2-40B4-BE49-F238E27FC236}">
                <a16:creationId xmlns:a16="http://schemas.microsoft.com/office/drawing/2014/main" id="{8D23B99D-F08B-4309-BABB-3818DC87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52675"/>
            <a:ext cx="1238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VoxScript</a:t>
            </a:r>
          </a:p>
        </p:txBody>
      </p:sp>
      <p:cxnSp>
        <p:nvCxnSpPr>
          <p:cNvPr id="20" name="command-arrow"/>
          <p:cNvCxnSpPr/>
          <p:nvPr/>
        </p:nvCxnSpPr>
        <p:spPr>
          <a:xfrm xmlns:a="http://schemas.openxmlformats.org/drawingml/2006/main">
            <a:off x="5600700" y="2800350"/>
            <a:ext cx="146685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7" name="command-note">
            <a:extLst xmlns:a="http://schemas.openxmlformats.org/drawingml/2006/main">
              <a:ext uri="{FF2B5EF4-FFF2-40B4-BE49-F238E27FC236}">
                <a16:creationId xmlns:a16="http://schemas.microsoft.com/office/drawing/2014/main" id="{1B03073D-9839-486C-8E1F-4C5ED450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62100"/>
            <a:ext cx="4410075" cy="4124325"/>
          </a:xfrm>
          <a:prstGeom xmlns:a="http://schemas.openxmlformats.org/drawingml/2006/main" prst="roundRect">
            <a:avLst>
              <a:gd name="adj" fmla="val 1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mmand-note-title">
            <a:extLst xmlns:a="http://schemas.openxmlformats.org/drawingml/2006/main">
              <a:ext uri="{FF2B5EF4-FFF2-40B4-BE49-F238E27FC236}">
                <a16:creationId xmlns:a16="http://schemas.microsoft.com/office/drawing/2014/main" id="{8E61126E-59FE-4E1A-B934-0BDCFA9C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57375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Crop composition</a:t>
            </a:r>
          </a:p>
        </p:txBody>
      </p:sp>
      <p:sp>
        <p:nvSpPr>
          <p:cNvPr id="9" name="command-note-label">
            <a:extLst xmlns:a="http://schemas.openxmlformats.org/drawingml/2006/main">
              <a:ext uri="{FF2B5EF4-FFF2-40B4-BE49-F238E27FC236}">
                <a16:creationId xmlns:a16="http://schemas.microsoft.com/office/drawing/2014/main" id="{9102C5DC-4C3F-47F5-B952-B91DA584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52750"/>
            <a:ext cx="121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8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Wheat</a:t>
            </a:r>
          </a:p>
        </p:txBody>
      </p:sp>
      <p:sp>
        <p:nvSpPr>
          <p:cNvPr id="10" name="command-note-value">
            <a:extLst xmlns:a="http://schemas.openxmlformats.org/drawingml/2006/main">
              <a:ext uri="{FF2B5EF4-FFF2-40B4-BE49-F238E27FC236}">
                <a16:creationId xmlns:a16="http://schemas.microsoft.com/office/drawing/2014/main" id="{0463945C-E7BA-42AF-9CBC-21FF8CE9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19475"/>
            <a:ext cx="12192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7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3225">
                <a:solidFill>
                  <a:srgbClr val="B287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B28700"/>
                </a:solidFill>
                <a:latin typeface="Helvetica Neue"/>
                <a:ea typeface="Helvetica Neue"/>
                <a:cs typeface="Helvetica Neue"/>
              </a:rPr>
              <a:t>25%</a:t>
            </a:r>
          </a:p>
        </p:txBody>
      </p:sp>
      <p:sp>
        <p:nvSpPr>
          <p:cNvPr id="11" name="command-note-caption">
            <a:extLst xmlns:a="http://schemas.openxmlformats.org/drawingml/2006/main">
              <a:ext uri="{FF2B5EF4-FFF2-40B4-BE49-F238E27FC236}">
                <a16:creationId xmlns:a16="http://schemas.microsoft.com/office/drawing/2014/main" id="{EC3201EF-53E0-4802-8E26-66983D56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05350"/>
            <a:ext cx="3524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Editable chart block
Color: yellow  •  Label: wheat</a:t>
            </a:r>
          </a:p>
        </p:txBody>
      </p:sp>
      <p:sp>
        <p:nvSpPr>
          <p:cNvPr id="12" name="command-parse">
            <a:extLst xmlns:a="http://schemas.openxmlformats.org/drawingml/2006/main">
              <a:ext uri="{FF2B5EF4-FFF2-40B4-BE49-F238E27FC236}">
                <a16:creationId xmlns:a16="http://schemas.microsoft.com/office/drawing/2014/main" id="{21774D9F-A2C9-4128-8A59-8981837F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40957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intent = PIE_CHART
value = 25
color = YELLOW
label = “wheat”</a:t>
            </a:r>
          </a:p>
        </p:txBody>
      </p:sp>
      <p:sp>
        <p:nvSpPr>
          <p:cNvPr id="13" name="command-example-footer">
            <a:extLst xmlns:a="http://schemas.openxmlformats.org/drawingml/2006/main">
              <a:ext uri="{FF2B5EF4-FFF2-40B4-BE49-F238E27FC236}">
                <a16:creationId xmlns:a16="http://schemas.microsoft.com/office/drawing/2014/main" id="{DFEA85C3-35CE-4514-8A9E-8E85A612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7734300" y="2476500"/>
          <a:ext xmlns:a="http://schemas.openxmlformats.org/drawingml/2006/main" cx="1809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8392a3173b4dcf"/>
          </a:graphicData>
        </a:graphic>
      </p:graphicFrame>
    </p:spTree>
    <p:extLst>
      <p:ext uri="{BB962C8B-B14F-4D97-AF65-F5344CB8AC3E}">
        <p14:creationId xmlns:p14="http://schemas.microsoft.com/office/powerpoint/2010/main" val="14632824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rammar-title">
            <a:extLst xmlns:a="http://schemas.openxmlformats.org/drawingml/2006/main">
              <a:ext uri="{FF2B5EF4-FFF2-40B4-BE49-F238E27FC236}">
                <a16:creationId xmlns:a16="http://schemas.microsoft.com/office/drawing/2014/main" id="{6E143106-2F35-444B-95FD-150A9E40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VoxScript is a small, teachable language with customizable aliases</a:t>
            </a:r>
          </a:p>
        </p:txBody>
      </p:sp>
      <p:sp>
        <p:nvSpPr>
          <p:cNvPr id="2" name="grammar-syntax">
            <a:extLst xmlns:a="http://schemas.openxmlformats.org/drawingml/2006/main">
              <a:ext uri="{FF2B5EF4-FFF2-40B4-BE49-F238E27FC236}">
                <a16:creationId xmlns:a16="http://schemas.microsoft.com/office/drawing/2014/main" id="{C8A918AE-05A6-41FC-BD6E-96ECC3CA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114014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D1117"/>
            </a:solidFill>
            <a:prstDash val="solid"/>
          </a:ln>
        </p:spPr>
      </p:sp>
      <p:sp>
        <p:nvSpPr>
          <p:cNvPr id="3" name="grammar-syntax-text">
            <a:extLst xmlns:a="http://schemas.openxmlformats.org/drawingml/2006/main">
              <a:ext uri="{FF2B5EF4-FFF2-40B4-BE49-F238E27FC236}">
                <a16:creationId xmlns:a16="http://schemas.microsoft.com/office/drawing/2014/main" id="{4B9CDBF1-52D1-4FC5-B161-8EF03216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10715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&lt;wake word&gt; + &lt;action&gt; + &lt;content&gt; + [style] + [value] + [label]</a:t>
            </a:r>
          </a:p>
        </p:txBody>
      </p:sp>
      <p:sp>
        <p:nvSpPr>
          <p:cNvPr id="4" name="grammar-actions">
            <a:extLst xmlns:a="http://schemas.openxmlformats.org/drawingml/2006/main">
              <a:ext uri="{FF2B5EF4-FFF2-40B4-BE49-F238E27FC236}">
                <a16:creationId xmlns:a16="http://schemas.microsoft.com/office/drawing/2014/main" id="{F4C2EE9C-7C3B-48D9-95B7-37264029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28950"/>
            <a:ext cx="356235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rammar-styles">
            <a:extLst xmlns:a="http://schemas.openxmlformats.org/drawingml/2006/main">
              <a:ext uri="{FF2B5EF4-FFF2-40B4-BE49-F238E27FC236}">
                <a16:creationId xmlns:a16="http://schemas.microsoft.com/office/drawing/2014/main" id="{7A4DBB1C-3762-4DB2-9080-72A641B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356235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grammar-controls">
            <a:extLst xmlns:a="http://schemas.openxmlformats.org/drawingml/2006/main">
              <a:ext uri="{FF2B5EF4-FFF2-40B4-BE49-F238E27FC236}">
                <a16:creationId xmlns:a16="http://schemas.microsoft.com/office/drawing/2014/main" id="{593A22B8-01A7-46A6-A412-192C1247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56235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grammar-actions-title">
            <a:extLst xmlns:a="http://schemas.openxmlformats.org/drawingml/2006/main">
              <a:ext uri="{FF2B5EF4-FFF2-40B4-BE49-F238E27FC236}">
                <a16:creationId xmlns:a16="http://schemas.microsoft.com/office/drawing/2014/main" id="{EE25574C-393A-4E7D-A733-8846D9EF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337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CONTENT ACTIONS</a:t>
            </a:r>
          </a:p>
        </p:txBody>
      </p:sp>
      <p:sp>
        <p:nvSpPr>
          <p:cNvPr id="8" name="grammar-actions-body">
            <a:extLst xmlns:a="http://schemas.openxmlformats.org/drawingml/2006/main">
              <a:ext uri="{FF2B5EF4-FFF2-40B4-BE49-F238E27FC236}">
                <a16:creationId xmlns:a16="http://schemas.microsoft.com/office/drawing/2014/main" id="{AF5B4614-93E2-4D56-AF5E-B8242895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90950"/>
            <a:ext cx="2857500" cy="1495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heading
paragraph
bullet / numbered / roman
checklist
quote / code
divider</a:t>
            </a:r>
          </a:p>
        </p:txBody>
      </p:sp>
      <p:sp>
        <p:nvSpPr>
          <p:cNvPr id="9" name="grammar-styles-title">
            <a:extLst xmlns:a="http://schemas.openxmlformats.org/drawingml/2006/main">
              <a:ext uri="{FF2B5EF4-FFF2-40B4-BE49-F238E27FC236}">
                <a16:creationId xmlns:a16="http://schemas.microsoft.com/office/drawing/2014/main" id="{595CE835-DDDE-411C-B17C-499805B7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337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VISUAL ACTIONS</a:t>
            </a:r>
          </a:p>
        </p:txBody>
      </p:sp>
      <p:sp>
        <p:nvSpPr>
          <p:cNvPr id="10" name="grammar-styles-body">
            <a:extLst xmlns:a="http://schemas.openxmlformats.org/drawingml/2006/main">
              <a:ext uri="{FF2B5EF4-FFF2-40B4-BE49-F238E27FC236}">
                <a16:creationId xmlns:a16="http://schemas.microsoft.com/office/drawing/2014/main" id="{4EA0C84E-0B46-4FA2-9F17-8841E602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857500" cy="1495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highlight &lt;color&gt;
pie / bar / progress chart
flow diagram
relationship map
indent / promote / demote</a:t>
            </a:r>
          </a:p>
        </p:txBody>
      </p:sp>
      <p:sp>
        <p:nvSpPr>
          <p:cNvPr id="11" name="grammar-controls-title">
            <a:extLst xmlns:a="http://schemas.openxmlformats.org/drawingml/2006/main">
              <a:ext uri="{FF2B5EF4-FFF2-40B4-BE49-F238E27FC236}">
                <a16:creationId xmlns:a16="http://schemas.microsoft.com/office/drawing/2014/main" id="{940D2642-6DC0-4E0B-A6DE-57B00777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SESSION CONTROLS</a:t>
            </a:r>
          </a:p>
        </p:txBody>
      </p:sp>
      <p:sp>
        <p:nvSpPr>
          <p:cNvPr id="12" name="grammar-controls-body">
            <a:extLst xmlns:a="http://schemas.openxmlformats.org/drawingml/2006/main">
              <a:ext uri="{FF2B5EF4-FFF2-40B4-BE49-F238E27FC236}">
                <a16:creationId xmlns:a16="http://schemas.microsoft.com/office/drawing/2014/main" id="{BB8F7347-0D2B-40D6-97E6-4BF74AAC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90950"/>
            <a:ext cx="2857500" cy="1495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undo last command
end list
new section
new note
save note
plain dictation mode</a:t>
            </a:r>
          </a:p>
        </p:txBody>
      </p:sp>
      <p:sp>
        <p:nvSpPr>
          <p:cNvPr id="13" name="grammar-note">
            <a:extLst xmlns:a="http://schemas.openxmlformats.org/drawingml/2006/main">
              <a:ext uri="{FF2B5EF4-FFF2-40B4-BE49-F238E27FC236}">
                <a16:creationId xmlns:a16="http://schemas.microsoft.com/office/drawing/2014/main" id="{1E010E79-B888-4A69-A6C0-9B689C66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29300"/>
            <a:ext cx="1066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Aliases, wake word, default colors and formatting presets are stored per user.</a:t>
            </a:r>
          </a:p>
        </p:txBody>
      </p:sp>
      <p:sp>
        <p:nvSpPr>
          <p:cNvPr id="14" name="grammar-footer">
            <a:extLst xmlns:a="http://schemas.openxmlformats.org/drawingml/2006/main">
              <a:ext uri="{FF2B5EF4-FFF2-40B4-BE49-F238E27FC236}">
                <a16:creationId xmlns:a16="http://schemas.microsoft.com/office/drawing/2014/main" id="{0CE20419-53A9-42C6-96A8-DDC8E329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71356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502E648-02E2-47FA-8008-759698EC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6B71077-3662-4A3E-9B56-315FB2C2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first release supports high-value note blocks with bounded complexity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4FA6A2D-1A4A-4A50-A75F-934CBAE2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Structured text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Headings, paragraphs, bullets, numbering, roman lists, checklists, quotes, code and dividers.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BA477DD-489B-46B8-BCB9-54D6652A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Visual emphasis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Named color highlights, indentation, hierarchy changes and reusable formatting presets.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D69A125-B4F6-42A1-993C-B6C2FC93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Native charts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Pie, bar and progress blocks with editable values, labels and colors.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C5AE510-1EFF-49B4-8741-94DA6A6A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Bounded diagrams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Flowcharts and relationship maps—not arbitrary generated artwork in the two-month scope.</a:t>
            </a:r>
          </a:p>
        </p:txBody>
      </p:sp>
    </p:spTree>
    <p:extLst>
      <p:ext uri="{BB962C8B-B14F-4D97-AF65-F5344CB8AC3E}">
        <p14:creationId xmlns:p14="http://schemas.microsoft.com/office/powerpoint/2010/main" val="3244541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peech-reality-title">
            <a:extLst xmlns:a="http://schemas.openxmlformats.org/drawingml/2006/main">
              <a:ext uri="{FF2B5EF4-FFF2-40B4-BE49-F238E27FC236}">
                <a16:creationId xmlns:a16="http://schemas.microsoft.com/office/drawing/2014/main" id="{E703069B-D1B3-4B7F-A4FC-AB68010E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native speech layer is designed around Android’s real constraints</a:t>
            </a:r>
          </a:p>
        </p:txBody>
      </p:sp>
      <p:sp>
        <p:nvSpPr>
          <p:cNvPr id="2" name="speech-reality-subtitle">
            <a:extLst xmlns:a="http://schemas.openxmlformats.org/drawingml/2006/main">
              <a:ext uri="{FF2B5EF4-FFF2-40B4-BE49-F238E27FC236}">
                <a16:creationId xmlns:a16="http://schemas.microsoft.com/office/drawing/2014/main" id="{79B64266-C639-4FFB-B3CB-A00C8E15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This protects privacy, battery life and demo reliability while keeping the no-key baseline practical.</a:t>
            </a:r>
          </a:p>
        </p:txBody>
      </p:sp>
      <p:sp>
        <p:nvSpPr>
          <p:cNvPr id="3" name="speech-card-1">
            <a:extLst xmlns:a="http://schemas.openxmlformats.org/drawingml/2006/main">
              <a:ext uri="{FF2B5EF4-FFF2-40B4-BE49-F238E27FC236}">
                <a16:creationId xmlns:a16="http://schemas.microsoft.com/office/drawing/2014/main" id="{0F35A0B7-E762-4B93-9265-A432230E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2571750" cy="36671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peech-card-2">
            <a:extLst xmlns:a="http://schemas.openxmlformats.org/drawingml/2006/main">
              <a:ext uri="{FF2B5EF4-FFF2-40B4-BE49-F238E27FC236}">
                <a16:creationId xmlns:a16="http://schemas.microsoft.com/office/drawing/2014/main" id="{97538CCB-92B1-4D6E-9C70-96C3E057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571750" cy="36671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peech-card-3">
            <a:extLst xmlns:a="http://schemas.openxmlformats.org/drawingml/2006/main">
              <a:ext uri="{FF2B5EF4-FFF2-40B4-BE49-F238E27FC236}">
                <a16:creationId xmlns:a16="http://schemas.microsoft.com/office/drawing/2014/main" id="{CA0800DE-97C0-41F0-AD16-81F4E4CE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571750" cy="36671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speech-card-4">
            <a:extLst xmlns:a="http://schemas.openxmlformats.org/drawingml/2006/main">
              <a:ext uri="{FF2B5EF4-FFF2-40B4-BE49-F238E27FC236}">
                <a16:creationId xmlns:a16="http://schemas.microsoft.com/office/drawing/2014/main" id="{DC285752-D9DC-43FA-AEB5-9864605E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14500"/>
            <a:ext cx="2562225" cy="3667125"/>
          </a:xfrm>
          <a:prstGeom xmlns:a="http://schemas.openxmlformats.org/drawingml/2006/main" prst="roundRect">
            <a:avLst>
              <a:gd name="adj" fmla="val 297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speech-n1">
            <a:extLst xmlns:a="http://schemas.openxmlformats.org/drawingml/2006/main">
              <a:ext uri="{FF2B5EF4-FFF2-40B4-BE49-F238E27FC236}">
                <a16:creationId xmlns:a16="http://schemas.microsoft.com/office/drawing/2014/main" id="{5E14867E-8C6E-4454-945A-9020933E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speech-t1">
            <a:extLst xmlns:a="http://schemas.openxmlformats.org/drawingml/2006/main">
              <a:ext uri="{FF2B5EF4-FFF2-40B4-BE49-F238E27FC236}">
                <a16:creationId xmlns:a16="http://schemas.microsoft.com/office/drawing/2014/main" id="{27D6DD76-8DE0-4A8F-A2B8-5183BE70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2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Permission</a:t>
            </a:r>
          </a:p>
        </p:txBody>
      </p:sp>
      <p:sp>
        <p:nvSpPr>
          <p:cNvPr id="9" name="speech-b1">
            <a:extLst xmlns:a="http://schemas.openxmlformats.org/drawingml/2006/main">
              <a:ext uri="{FF2B5EF4-FFF2-40B4-BE49-F238E27FC236}">
                <a16:creationId xmlns:a16="http://schemas.microsoft.com/office/drawing/2014/main" id="{1CCECB33-DA0E-4131-A259-4A4D2728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2000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Ask for RECORD_AUDIO in context. Explain why and degrade gracefully if denied.</a:t>
            </a:r>
          </a:p>
        </p:txBody>
      </p:sp>
      <p:sp>
        <p:nvSpPr>
          <p:cNvPr id="10" name="speech-n2">
            <a:extLst xmlns:a="http://schemas.openxmlformats.org/drawingml/2006/main">
              <a:ext uri="{FF2B5EF4-FFF2-40B4-BE49-F238E27FC236}">
                <a16:creationId xmlns:a16="http://schemas.microsoft.com/office/drawing/2014/main" id="{57C2A6B6-53E0-4C11-A37A-5419A72D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00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speech-t2">
            <a:extLst xmlns:a="http://schemas.openxmlformats.org/drawingml/2006/main">
              <a:ext uri="{FF2B5EF4-FFF2-40B4-BE49-F238E27FC236}">
                <a16:creationId xmlns:a16="http://schemas.microsoft.com/office/drawing/2014/main" id="{669B3C14-4A6B-4C17-87F6-D307855A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717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2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Recognizer</a:t>
            </a:r>
          </a:p>
        </p:txBody>
      </p:sp>
      <p:sp>
        <p:nvSpPr>
          <p:cNvPr id="12" name="speech-b2">
            <a:extLst xmlns:a="http://schemas.openxmlformats.org/drawingml/2006/main">
              <a:ext uri="{FF2B5EF4-FFF2-40B4-BE49-F238E27FC236}">
                <a16:creationId xmlns:a16="http://schemas.microsoft.com/office/drawing/2014/main" id="{40A2AD59-EEE2-4B1D-A757-DAAAC77D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81350"/>
            <a:ext cx="2000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Prefer on-device recognition when available; use the system service as a disclosed fallback.</a:t>
            </a:r>
          </a:p>
        </p:txBody>
      </p:sp>
      <p:sp>
        <p:nvSpPr>
          <p:cNvPr id="13" name="speech-n3">
            <a:extLst xmlns:a="http://schemas.openxmlformats.org/drawingml/2006/main">
              <a:ext uri="{FF2B5EF4-FFF2-40B4-BE49-F238E27FC236}">
                <a16:creationId xmlns:a16="http://schemas.microsoft.com/office/drawing/2014/main" id="{3B4218BC-818B-4280-BAAA-7CDF38D1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00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speech-t3">
            <a:extLst xmlns:a="http://schemas.openxmlformats.org/drawingml/2006/main">
              <a:ext uri="{FF2B5EF4-FFF2-40B4-BE49-F238E27FC236}">
                <a16:creationId xmlns:a16="http://schemas.microsoft.com/office/drawing/2014/main" id="{50B9DA90-BDA4-4FD8-83E0-00F6103B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717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2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Session</a:t>
            </a:r>
          </a:p>
        </p:txBody>
      </p:sp>
      <p:sp>
        <p:nvSpPr>
          <p:cNvPr id="15" name="speech-b3">
            <a:extLst xmlns:a="http://schemas.openxmlformats.org/drawingml/2006/main">
              <a:ext uri="{FF2B5EF4-FFF2-40B4-BE49-F238E27FC236}">
                <a16:creationId xmlns:a16="http://schemas.microsoft.com/office/drawing/2014/main" id="{246DB67F-83A9-4100-83D8-BCF602B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81350"/>
            <a:ext cx="2000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Push-to-talk or bounded listening sessions—not an always-on background microphone.</a:t>
            </a:r>
          </a:p>
        </p:txBody>
      </p:sp>
      <p:sp>
        <p:nvSpPr>
          <p:cNvPr id="16" name="speech-n4">
            <a:extLst xmlns:a="http://schemas.openxmlformats.org/drawingml/2006/main">
              <a:ext uri="{FF2B5EF4-FFF2-40B4-BE49-F238E27FC236}">
                <a16:creationId xmlns:a16="http://schemas.microsoft.com/office/drawing/2014/main" id="{6E080EB1-00CB-4780-B955-E4F69FF6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0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speech-t4">
            <a:extLst xmlns:a="http://schemas.openxmlformats.org/drawingml/2006/main">
              <a:ext uri="{FF2B5EF4-FFF2-40B4-BE49-F238E27FC236}">
                <a16:creationId xmlns:a16="http://schemas.microsoft.com/office/drawing/2014/main" id="{B7E158DE-B91C-4F44-834C-6A62C315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2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Lifecycle</a:t>
            </a:r>
          </a:p>
        </p:txBody>
      </p:sp>
      <p:sp>
        <p:nvSpPr>
          <p:cNvPr id="18" name="speech-b4">
            <a:extLst xmlns:a="http://schemas.openxmlformats.org/drawingml/2006/main">
              <a:ext uri="{FF2B5EF4-FFF2-40B4-BE49-F238E27FC236}">
                <a16:creationId xmlns:a16="http://schemas.microsoft.com/office/drawing/2014/main" id="{1248D2A0-B3C3-4508-9ECA-3FFFE864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2000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calls stay on the main thread; partial/final results are handled; the recognizer is destroyed cleanly.</a:t>
            </a:r>
          </a:p>
        </p:txBody>
      </p:sp>
      <p:sp>
        <p:nvSpPr>
          <p:cNvPr id="19" name="speech-foot">
            <a:extLst xmlns:a="http://schemas.openxmlformats.org/drawingml/2006/main">
              <a:ext uri="{FF2B5EF4-FFF2-40B4-BE49-F238E27FC236}">
                <a16:creationId xmlns:a16="http://schemas.microsoft.com/office/drawing/2014/main" id="{6B1C70BA-90EA-49E5-A8BE-E5515374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00725"/>
            <a:ext cx="1095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Android notes that implementations may ignore the offline preference and that SpeechRecognizer is not intended for continuous recognition.</a:t>
            </a:r>
          </a:p>
        </p:txBody>
      </p:sp>
      <p:sp>
        <p:nvSpPr>
          <p:cNvPr id="20" name="speech-reality-footer">
            <a:extLst xmlns:a="http://schemas.openxmlformats.org/drawingml/2006/main">
              <a:ext uri="{FF2B5EF4-FFF2-40B4-BE49-F238E27FC236}">
                <a16:creationId xmlns:a16="http://schemas.microsoft.com/office/drawing/2014/main" id="{2AC15F0E-8C16-448E-B2C5-EE021266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02116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C0F0768-8859-4D45-BF73-6D4E94D3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BD30286-4260-4480-9C5C-2566A33C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Deterministic structure and optional AI solve different problems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5070AE7-05A6-4B52-A98A-2DF39E8D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82C78E8-3AEA-480B-BF1F-3738A62A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C198997-F2EC-4B04-BC25-D0FBD5D9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A84A0039-0C51-4B34-B3DD-6CAA0866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F4B95934-A1E0-46B6-A4AB-B3AC73C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Native capture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Speech becomes a visible transcript through Android’s recognizer. No project API key is required.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37C5B211-7D7C-4E1F-90B9-08E1F120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690269D7-BFFA-4982-87BD-43F45FF0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VoxScript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Commands create predictable editable blocks. The same phrase can be tested repeatedly.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B3C51127-9844-4753-907B-EB6A3AA3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9FBD447C-BC1A-455B-90BE-71380B1D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enhancement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When enabled, summarize, title, tag, reorganize or follow custom instructions—after preview.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A71349B-DDE0-41C0-8BAA-FCB5EB3A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OFFLINE CORE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6A655004-E4E6-4C80-B319-52C8D070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AVAILABLE FIRST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038A081B-B052-4565-880A-C7A405CC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OPTIONAL LATER</a:t>
            </a:r>
          </a:p>
        </p:txBody>
      </p:sp>
    </p:spTree>
    <p:extLst>
      <p:ext uri="{BB962C8B-B14F-4D97-AF65-F5344CB8AC3E}">
        <p14:creationId xmlns:p14="http://schemas.microsoft.com/office/powerpoint/2010/main" val="7351914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E7DCA02-0AEB-4331-AAD4-950F49CC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layered Android architecture isolates speech, structure and AI</a:t>
            </a:r>
          </a:p>
        </p:txBody>
      </p:sp>
      <p:sp>
        <p:nvSpPr>
          <p:cNvPr id="2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02D51C6A-2A58-4679-B8FC-D6AEE8BD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The note model remains stable even if the speech engine or future AI provider changes.</a:t>
            </a:r>
          </a:p>
        </p:txBody>
      </p:sp>
      <p:sp>
        <p:nvSpPr>
          <p:cNvPr id="3" name="arch-top-0">
            <a:extLst xmlns:a="http://schemas.openxmlformats.org/drawingml/2006/main">
              <a:ext uri="{FF2B5EF4-FFF2-40B4-BE49-F238E27FC236}">
                <a16:creationId xmlns:a16="http://schemas.microsoft.com/office/drawing/2014/main" id="{F2F50FE5-DF31-4C61-8334-F7B6377B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F194707C-7752-438F-9FCF-3EA8C084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71700"/>
            <a:ext cx="16097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Compose UI</a:t>
            </a:r>
          </a:p>
        </p:txBody>
      </p:sp>
      <p:sp>
        <p:nvSpPr>
          <p:cNvPr id="5" name="arch-body-0">
            <a:extLst xmlns:a="http://schemas.openxmlformats.org/drawingml/2006/main">
              <a:ext uri="{FF2B5EF4-FFF2-40B4-BE49-F238E27FC236}">
                <a16:creationId xmlns:a16="http://schemas.microsoft.com/office/drawing/2014/main" id="{244CFB51-0B8C-4B6A-9C80-3EB21B24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38425"/>
            <a:ext cx="16097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Library • editor • settings</a:t>
            </a:r>
          </a:p>
        </p:txBody>
      </p:sp>
      <p:cxnSp>
        <p:nvCxnSpPr>
          <p:cNvPr id="40" name="arch-link-0"/>
          <p:cNvCxnSpPr/>
          <p:nvPr/>
        </p:nvCxnSpPr>
        <p:spPr>
          <a:xfrm xmlns:a="http://schemas.openxmlformats.org/drawingml/2006/main">
            <a:off x="2343150" y="255270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7" name="arch-top-1">
            <a:extLst xmlns:a="http://schemas.openxmlformats.org/drawingml/2006/main">
              <a:ext uri="{FF2B5EF4-FFF2-40B4-BE49-F238E27FC236}">
                <a16:creationId xmlns:a16="http://schemas.microsoft.com/office/drawing/2014/main" id="{452B47A6-D680-460F-BFD6-E15981D6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52625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FD8C0589-9FF3-4BB3-839F-3C5E8C85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71700"/>
            <a:ext cx="16097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ViewModels</a:t>
            </a:r>
          </a:p>
        </p:txBody>
      </p:sp>
      <p:sp>
        <p:nvSpPr>
          <p:cNvPr id="9" name="arch-body-1">
            <a:extLst xmlns:a="http://schemas.openxmlformats.org/drawingml/2006/main">
              <a:ext uri="{FF2B5EF4-FFF2-40B4-BE49-F238E27FC236}">
                <a16:creationId xmlns:a16="http://schemas.microsoft.com/office/drawing/2014/main" id="{6CFD85D1-A235-4DFF-A7FE-F2A9BC78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38425"/>
            <a:ext cx="16097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State and user actions</a:t>
            </a:r>
          </a:p>
        </p:txBody>
      </p:sp>
      <p:cxnSp>
        <p:nvCxnSpPr>
          <p:cNvPr id="44" name="arch-link-1"/>
          <p:cNvCxnSpPr/>
          <p:nvPr/>
        </p:nvCxnSpPr>
        <p:spPr>
          <a:xfrm xmlns:a="http://schemas.openxmlformats.org/drawingml/2006/main">
            <a:off x="4686300" y="255270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1" name="arch-top-2">
            <a:extLst xmlns:a="http://schemas.openxmlformats.org/drawingml/2006/main">
              <a:ext uri="{FF2B5EF4-FFF2-40B4-BE49-F238E27FC236}">
                <a16:creationId xmlns:a16="http://schemas.microsoft.com/office/drawing/2014/main" id="{3353052C-52E6-46C9-B738-9852B2FC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952625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3BBAE815-37D3-4FA6-937D-A174B786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171700"/>
            <a:ext cx="16097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cases</a:t>
            </a:r>
          </a:p>
        </p:txBody>
      </p:sp>
      <p:sp>
        <p:nvSpPr>
          <p:cNvPr id="13" name="arch-body-2">
            <a:extLst xmlns:a="http://schemas.openxmlformats.org/drawingml/2006/main">
              <a:ext uri="{FF2B5EF4-FFF2-40B4-BE49-F238E27FC236}">
                <a16:creationId xmlns:a16="http://schemas.microsoft.com/office/drawing/2014/main" id="{98DB6525-93BC-434E-9AF9-B5662E5C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38425"/>
            <a:ext cx="16097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Create • edit • organize</a:t>
            </a:r>
          </a:p>
        </p:txBody>
      </p:sp>
      <p:cxnSp>
        <p:nvCxnSpPr>
          <p:cNvPr id="48" name="arch-link-2"/>
          <p:cNvCxnSpPr/>
          <p:nvPr/>
        </p:nvCxnSpPr>
        <p:spPr>
          <a:xfrm xmlns:a="http://schemas.openxmlformats.org/drawingml/2006/main">
            <a:off x="7029450" y="255270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5" name="arch-top-3">
            <a:extLst xmlns:a="http://schemas.openxmlformats.org/drawingml/2006/main">
              <a:ext uri="{FF2B5EF4-FFF2-40B4-BE49-F238E27FC236}">
                <a16:creationId xmlns:a16="http://schemas.microsoft.com/office/drawing/2014/main" id="{FF6DA555-45F0-43AB-99DD-B990F188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952625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9AFE8AF5-BA90-4095-8D84-3D94E1BD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71700"/>
            <a:ext cx="16097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Domain</a:t>
            </a:r>
          </a:p>
        </p:txBody>
      </p:sp>
      <p:sp>
        <p:nvSpPr>
          <p:cNvPr id="17" name="arch-body-3">
            <a:extLst xmlns:a="http://schemas.openxmlformats.org/drawingml/2006/main">
              <a:ext uri="{FF2B5EF4-FFF2-40B4-BE49-F238E27FC236}">
                <a16:creationId xmlns:a16="http://schemas.microsoft.com/office/drawing/2014/main" id="{B0058331-135B-49FB-9E1B-B4241173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38425"/>
            <a:ext cx="16097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VoxScript • block model</a:t>
            </a:r>
          </a:p>
        </p:txBody>
      </p:sp>
      <p:cxnSp>
        <p:nvCxnSpPr>
          <p:cNvPr id="52" name="arch-link-3"/>
          <p:cNvCxnSpPr/>
          <p:nvPr/>
        </p:nvCxnSpPr>
        <p:spPr>
          <a:xfrm xmlns:a="http://schemas.openxmlformats.org/drawingml/2006/main">
            <a:off x="9372600" y="255270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9" name="arch-top-4">
            <a:extLst xmlns:a="http://schemas.openxmlformats.org/drawingml/2006/main">
              <a:ext uri="{FF2B5EF4-FFF2-40B4-BE49-F238E27FC236}">
                <a16:creationId xmlns:a16="http://schemas.microsoft.com/office/drawing/2014/main" id="{E60673DF-991C-493C-B643-294D47A6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52625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81A9E776-95F0-4713-962B-93430685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171700"/>
            <a:ext cx="16097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21" name="arch-body-4">
            <a:extLst xmlns:a="http://schemas.openxmlformats.org/drawingml/2006/main">
              <a:ext uri="{FF2B5EF4-FFF2-40B4-BE49-F238E27FC236}">
                <a16:creationId xmlns:a16="http://schemas.microsoft.com/office/drawing/2014/main" id="{DB2AE406-33DC-4CD5-BAB1-EA50F70C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638425"/>
            <a:ext cx="16097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Room • preferences</a:t>
            </a:r>
          </a:p>
        </p:txBody>
      </p:sp>
      <p:sp>
        <p:nvSpPr>
          <p:cNvPr id="22" name="arch-service-0">
            <a:extLst xmlns:a="http://schemas.openxmlformats.org/drawingml/2006/main">
              <a:ext uri="{FF2B5EF4-FFF2-40B4-BE49-F238E27FC236}">
                <a16:creationId xmlns:a16="http://schemas.microsoft.com/office/drawing/2014/main" id="{66118C75-B041-49AA-941B-96B8C0D2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3200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arch-service-title-0">
            <a:extLst xmlns:a="http://schemas.openxmlformats.org/drawingml/2006/main">
              <a:ext uri="{FF2B5EF4-FFF2-40B4-BE49-F238E27FC236}">
                <a16:creationId xmlns:a16="http://schemas.microsoft.com/office/drawing/2014/main" id="{35489A78-819B-4986-AFC8-021B197D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767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Speech gateway</a:t>
            </a:r>
          </a:p>
        </p:txBody>
      </p:sp>
      <p:sp>
        <p:nvSpPr>
          <p:cNvPr id="24" name="arch-service-body-0">
            <a:extLst xmlns:a="http://schemas.openxmlformats.org/drawingml/2006/main">
              <a:ext uri="{FF2B5EF4-FFF2-40B4-BE49-F238E27FC236}">
                <a16:creationId xmlns:a16="http://schemas.microsoft.com/office/drawing/2014/main" id="{4AFB96D2-1750-4E5E-93D6-42FCE048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7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Android SpeechRecognizer</a:t>
            </a:r>
          </a:p>
        </p:txBody>
      </p:sp>
      <p:sp>
        <p:nvSpPr>
          <p:cNvPr id="25" name="arch-service-1">
            <a:extLst xmlns:a="http://schemas.openxmlformats.org/drawingml/2006/main">
              <a:ext uri="{FF2B5EF4-FFF2-40B4-BE49-F238E27FC236}">
                <a16:creationId xmlns:a16="http://schemas.microsoft.com/office/drawing/2014/main" id="{DE5FAE20-FC8B-40FA-A924-5BCBB200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48150"/>
            <a:ext cx="3200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arch-service-title-1">
            <a:extLst xmlns:a="http://schemas.openxmlformats.org/drawingml/2006/main">
              <a:ext uri="{FF2B5EF4-FFF2-40B4-BE49-F238E27FC236}">
                <a16:creationId xmlns:a16="http://schemas.microsoft.com/office/drawing/2014/main" id="{85772745-CD90-4669-A0F9-7741C8CE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767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Block renderer</a:t>
            </a:r>
          </a:p>
        </p:txBody>
      </p:sp>
      <p:sp>
        <p:nvSpPr>
          <p:cNvPr id="27" name="arch-service-body-1">
            <a:extLst xmlns:a="http://schemas.openxmlformats.org/drawingml/2006/main">
              <a:ext uri="{FF2B5EF4-FFF2-40B4-BE49-F238E27FC236}">
                <a16:creationId xmlns:a16="http://schemas.microsoft.com/office/drawing/2014/main" id="{E86721E7-1CA1-4AB3-AF2A-9CC3C532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530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7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Text • lists • charts • flow</a:t>
            </a:r>
          </a:p>
        </p:txBody>
      </p:sp>
      <p:sp>
        <p:nvSpPr>
          <p:cNvPr id="28" name="arch-service-2">
            <a:extLst xmlns:a="http://schemas.openxmlformats.org/drawingml/2006/main">
              <a:ext uri="{FF2B5EF4-FFF2-40B4-BE49-F238E27FC236}">
                <a16:creationId xmlns:a16="http://schemas.microsoft.com/office/drawing/2014/main" id="{08EB2F88-8E37-4020-8492-EAF72B8D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48150"/>
            <a:ext cx="3200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arch-service-title-2">
            <a:extLst xmlns:a="http://schemas.openxmlformats.org/drawingml/2006/main">
              <a:ext uri="{FF2B5EF4-FFF2-40B4-BE49-F238E27FC236}">
                <a16:creationId xmlns:a16="http://schemas.microsoft.com/office/drawing/2014/main" id="{4162B25F-EEBC-4677-B2FF-5252552D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provider</a:t>
            </a:r>
          </a:p>
        </p:txBody>
      </p:sp>
      <p:sp>
        <p:nvSpPr>
          <p:cNvPr id="30" name="arch-service-body-2">
            <a:extLst xmlns:a="http://schemas.openxmlformats.org/drawingml/2006/main">
              <a:ext uri="{FF2B5EF4-FFF2-40B4-BE49-F238E27FC236}">
                <a16:creationId xmlns:a16="http://schemas.microsoft.com/office/drawing/2014/main" id="{F7D5E71E-41A8-44A0-9D6D-3AF9B347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530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7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Optional summary and organization</a:t>
            </a:r>
          </a:p>
        </p:txBody>
      </p:sp>
      <p:cxnSp>
        <p:nvCxnSpPr>
          <p:cNvPr id="65" name="arch-down-speech"/>
          <p:cNvCxnSpPr/>
          <p:nvPr/>
        </p:nvCxnSpPr>
        <p:spPr>
          <a:xfrm xmlns:a="http://schemas.openxmlformats.org/drawingml/2006/main">
            <a:off x="3524250" y="3143250"/>
            <a:ext cx="286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dash"/>
          </a:ln>
        </p:spPr>
      </p:cxnSp>
      <p:cxnSp>
        <p:nvCxnSpPr>
          <p:cNvPr id="66" name="arch-down-render"/>
          <p:cNvCxnSpPr/>
          <p:nvPr/>
        </p:nvCxnSpPr>
        <p:spPr>
          <a:xfrm xmlns:a="http://schemas.openxmlformats.org/drawingml/2006/main">
            <a:off x="6057900" y="3143250"/>
            <a:ext cx="286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dash"/>
          </a:ln>
        </p:spPr>
      </p:cxnSp>
      <p:cxnSp>
        <p:nvCxnSpPr>
          <p:cNvPr id="67" name="arch-down-ai"/>
          <p:cNvCxnSpPr/>
          <p:nvPr/>
        </p:nvCxnSpPr>
        <p:spPr>
          <a:xfrm xmlns:a="http://schemas.openxmlformats.org/drawingml/2006/main">
            <a:off x="8591550" y="3143250"/>
            <a:ext cx="286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dash"/>
          </a:ln>
        </p:spPr>
      </p:cxnSp>
      <p:sp>
        <p:nvSpPr>
          <p:cNvPr id="34" name="architecture-footer">
            <a:extLst xmlns:a="http://schemas.openxmlformats.org/drawingml/2006/main">
              <a:ext uri="{FF2B5EF4-FFF2-40B4-BE49-F238E27FC236}">
                <a16:creationId xmlns:a16="http://schemas.microsoft.com/office/drawing/2014/main" id="{10C0E698-4D2E-4C55-AEFC-3586A0A6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72911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ata-model-title">
            <a:extLst xmlns:a="http://schemas.openxmlformats.org/drawingml/2006/main">
              <a:ext uri="{FF2B5EF4-FFF2-40B4-BE49-F238E27FC236}">
                <a16:creationId xmlns:a16="http://schemas.microsoft.com/office/drawing/2014/main" id="{2A1A6CFB-DA26-4598-9281-6622E2E7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block model keeps every spoken result editable</a:t>
            </a:r>
          </a:p>
        </p:txBody>
      </p:sp>
      <p:sp>
        <p:nvSpPr>
          <p:cNvPr id="2" name="data-model-subtitle">
            <a:extLst xmlns:a="http://schemas.openxmlformats.org/drawingml/2006/main">
              <a:ext uri="{FF2B5EF4-FFF2-40B4-BE49-F238E27FC236}">
                <a16:creationId xmlns:a16="http://schemas.microsoft.com/office/drawing/2014/main" id="{0D03D449-32E0-4997-8788-BD5BC9E6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Room stores stable entities; chart and diagram payloads remain structured instead of becoming flat images.</a:t>
            </a:r>
          </a:p>
        </p:txBody>
      </p:sp>
      <p:graphicFrame>
        <p:nvGraphicFramePr>
          <p:cNvPr id="8" name="data-model-table"/>
          <p:cNvGraphicFramePr/>
          <p:nvPr/>
        </p:nvGraphicFramePr>
        <p:xfrm>
          <a:off xmlns:a="http://schemas.openxmlformats.org/drawingml/2006/main" x="390525" y="1809750"/>
          <a:ext xmlns:a="http://schemas.openxmlformats.org/drawingml/2006/main" cx="11401425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048250"/>
                <a:gridCol w="4638675"/>
              </a:tblGrid>
              <a:tr h="540204">
                <a:tc>
                  <a:txBody>
                    <a:bodyPr/>
                    <a:lstStyle/>
                    <a:p>
                      <a:r>
                        <a:t>Entity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Key fields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 marL="91440" marR="91440" marT="45720" marB="45720"/>
                </a:tc>
              </a:tr>
              <a:tr h="540204"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id, title, notebookId, createdAt, updatedAt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Container and ordering</a:t>
                      </a:r>
                    </a:p>
                  </a:txBody>
                  <a:tcPr marL="91440" marR="91440" marT="45720" marB="45720"/>
                </a:tc>
              </a:tr>
              <a:tr h="540204">
                <a:tc>
                  <a:txBody>
                    <a:bodyPr/>
                    <a:lstStyle/>
                    <a:p>
                      <a:r>
                        <a:t>Block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id, noteId, type, position, payload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Typed editable content</a:t>
                      </a:r>
                    </a:p>
                  </a:txBody>
                  <a:tcPr marL="91440" marR="91440" marT="45720" marB="45720"/>
                </a:tc>
              </a:tr>
              <a:tr h="540204">
                <a:tc>
                  <a:txBody>
                    <a:bodyPr/>
                    <a:lstStyle/>
                    <a:p>
                      <a:r>
                        <a:t>Style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color, level, listStyle, emphasis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Presentation independent of text</a:t>
                      </a:r>
                    </a:p>
                  </a:txBody>
                  <a:tcPr marL="91440" marR="91440" marT="45720" marB="45720"/>
                </a:tc>
              </a:tr>
              <a:tr h="540204">
                <a:tc>
                  <a:txBody>
                    <a:bodyPr/>
                    <a:lstStyle/>
                    <a:p>
                      <a:r>
                        <a:t>Chart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chartType, values, labels, colors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Native visual note</a:t>
                      </a:r>
                    </a:p>
                  </a:txBody>
                  <a:tcPr marL="91440" marR="91440" marT="45720" marB="45720"/>
                </a:tc>
              </a:tr>
              <a:tr h="540204">
                <a:tc>
                  <a:txBody>
                    <a:bodyPr/>
                    <a:lstStyle/>
                    <a:p>
                      <a:r>
                        <a:t>Diagram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nodes, edges, direction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Bounded flow / relationship map</a:t>
                      </a:r>
                    </a:p>
                  </a:txBody>
                  <a:tcPr marL="91440" marR="91440" marT="45720" marB="45720"/>
                </a:tc>
              </a:tr>
              <a:tr h="540204">
                <a:tc>
                  <a:txBody>
                    <a:bodyPr/>
                    <a:lstStyle/>
                    <a:p>
                      <a:r>
                        <a:t>VoiceRule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wakeWord, aliases, defaults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User customization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data-model-bottom">
            <a:extLst xmlns:a="http://schemas.openxmlformats.org/drawingml/2006/main">
              <a:ext uri="{FF2B5EF4-FFF2-40B4-BE49-F238E27FC236}">
                <a16:creationId xmlns:a16="http://schemas.microsoft.com/office/drawing/2014/main" id="{01B028F4-E674-4C37-893C-D522917A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57875"/>
            <a:ext cx="1076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this matters: the user can edit the label, value, color or hierarchy after speaking without repeating the whole note.</a:t>
            </a:r>
          </a:p>
        </p:txBody>
      </p:sp>
      <p:sp>
        <p:nvSpPr>
          <p:cNvPr id="5" name="data-model-footer">
            <a:extLst xmlns:a="http://schemas.openxmlformats.org/drawingml/2006/main">
              <a:ext uri="{FF2B5EF4-FFF2-40B4-BE49-F238E27FC236}">
                <a16:creationId xmlns:a16="http://schemas.microsoft.com/office/drawing/2014/main" id="{72AA856C-DD93-4BDA-B0F7-30C6F506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589231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B38AD00-B03B-45A6-987C-4056F3D5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ECB46AF-9449-4E0A-BB8E-40E1C9EC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live demonstration tells one complete, memorable story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2CF4744-51EC-46EA-8695-0EE18243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E414708-453B-45F0-91A3-8A165DB7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1411C2B-4655-48A3-9541-8C39810A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2C4A43B-27E3-4E2C-BB95-540980F4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• CAPTURE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72BDDBB-49AE-4732-8B7E-1192F358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• STRUCTURE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CCE509A-9328-4D52-8394-A621D5AD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• RETURN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EF03A97-8C67-4534-B365-AD29ABDE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Edit and organize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 a transcript, change chart values, move blocks and save in a notebook.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2597E8C-E32B-49AC-A4EF-3D6BDF48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Speak a study note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headings, lists, highlights and a wheat pie chart using VoxScript.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F4DAF6F-CD3A-4235-9079-E76C25C3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Relaunch, search, reopen the saved note and optionally preview AI enhancement.</a:t>
            </a:r>
          </a:p>
        </p:txBody>
      </p:sp>
    </p:spTree>
    <p:extLst>
      <p:ext uri="{BB962C8B-B14F-4D97-AF65-F5344CB8AC3E}">
        <p14:creationId xmlns:p14="http://schemas.microsoft.com/office/powerpoint/2010/main" val="93491188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9D3E7E70-0EFE-4484-A6CD-33DDF61C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Success is measured at speech, command, note and user levels</a:t>
            </a:r>
          </a:p>
        </p:txBody>
      </p:sp>
      <p:sp>
        <p:nvSpPr>
          <p:cNvPr id="2" name="evaluation-subtitle">
            <a:extLst xmlns:a="http://schemas.openxmlformats.org/drawingml/2006/main">
              <a:ext uri="{FF2B5EF4-FFF2-40B4-BE49-F238E27FC236}">
                <a16:creationId xmlns:a16="http://schemas.microsoft.com/office/drawing/2014/main" id="{6574412B-3160-49C6-967B-B3340F83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No performance percentage is claimed in Review 1; targets will be set after the first versioned test corpus is recorded.</a:t>
            </a:r>
          </a:p>
        </p:txBody>
      </p:sp>
      <p:sp>
        <p:nvSpPr>
          <p:cNvPr id="3" name="eval-1">
            <a:extLst xmlns:a="http://schemas.openxmlformats.org/drawingml/2006/main">
              <a:ext uri="{FF2B5EF4-FFF2-40B4-BE49-F238E27FC236}">
                <a16:creationId xmlns:a16="http://schemas.microsoft.com/office/drawing/2014/main" id="{9A100164-6165-47CB-BE7C-0E9F1EC6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eval-2">
            <a:extLst xmlns:a="http://schemas.openxmlformats.org/drawingml/2006/main">
              <a:ext uri="{FF2B5EF4-FFF2-40B4-BE49-F238E27FC236}">
                <a16:creationId xmlns:a16="http://schemas.microsoft.com/office/drawing/2014/main" id="{3D27CC57-B3FF-4440-B4A1-A5DBEB77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eval-3">
            <a:extLst xmlns:a="http://schemas.openxmlformats.org/drawingml/2006/main">
              <a:ext uri="{FF2B5EF4-FFF2-40B4-BE49-F238E27FC236}">
                <a16:creationId xmlns:a16="http://schemas.microsoft.com/office/drawing/2014/main" id="{7C76BAC7-AF32-4F2F-AFA6-E5EF646A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33800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eval-4">
            <a:extLst xmlns:a="http://schemas.openxmlformats.org/drawingml/2006/main">
              <a:ext uri="{FF2B5EF4-FFF2-40B4-BE49-F238E27FC236}">
                <a16:creationId xmlns:a16="http://schemas.microsoft.com/office/drawing/2014/main" id="{FDFD46EA-C6C1-494F-A10F-695F8B2D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33800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eval-t1">
            <a:extLst xmlns:a="http://schemas.openxmlformats.org/drawingml/2006/main">
              <a:ext uri="{FF2B5EF4-FFF2-40B4-BE49-F238E27FC236}">
                <a16:creationId xmlns:a16="http://schemas.microsoft.com/office/drawing/2014/main" id="{CA2C87D2-5282-4AE0-AA1A-8C82160E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Speech quality</a:t>
            </a:r>
          </a:p>
        </p:txBody>
      </p:sp>
      <p:sp>
        <p:nvSpPr>
          <p:cNvPr id="8" name="eval-b1">
            <a:extLst xmlns:a="http://schemas.openxmlformats.org/drawingml/2006/main">
              <a:ext uri="{FF2B5EF4-FFF2-40B4-BE49-F238E27FC236}">
                <a16:creationId xmlns:a16="http://schemas.microsoft.com/office/drawing/2014/main" id="{54BF9B48-426B-49F2-8351-846CCA37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4762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Word error rate on a scripted corpus in quiet and noisy conditions.</a:t>
            </a:r>
          </a:p>
        </p:txBody>
      </p:sp>
      <p:sp>
        <p:nvSpPr>
          <p:cNvPr id="9" name="eval-t2">
            <a:extLst xmlns:a="http://schemas.openxmlformats.org/drawingml/2006/main">
              <a:ext uri="{FF2B5EF4-FFF2-40B4-BE49-F238E27FC236}">
                <a16:creationId xmlns:a16="http://schemas.microsoft.com/office/drawing/2014/main" id="{B34D4FB6-EFBF-4F56-9D60-3FF8359B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1930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Parser quality</a:t>
            </a:r>
          </a:p>
        </p:txBody>
      </p:sp>
      <p:sp>
        <p:nvSpPr>
          <p:cNvPr id="10" name="eval-b2">
            <a:extLst xmlns:a="http://schemas.openxmlformats.org/drawingml/2006/main">
              <a:ext uri="{FF2B5EF4-FFF2-40B4-BE49-F238E27FC236}">
                <a16:creationId xmlns:a16="http://schemas.microsoft.com/office/drawing/2014/main" id="{BA647434-0006-4CFE-8210-E2736B44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571750"/>
            <a:ext cx="4762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Intent accuracy, slot accuracy and rejected/ambiguous command cases.</a:t>
            </a:r>
          </a:p>
        </p:txBody>
      </p:sp>
      <p:sp>
        <p:nvSpPr>
          <p:cNvPr id="11" name="eval-t3">
            <a:extLst xmlns:a="http://schemas.openxmlformats.org/drawingml/2006/main">
              <a:ext uri="{FF2B5EF4-FFF2-40B4-BE49-F238E27FC236}">
                <a16:creationId xmlns:a16="http://schemas.microsoft.com/office/drawing/2014/main" id="{6DF04FA5-26A1-44F7-9713-3978FF36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0050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System quality</a:t>
            </a:r>
          </a:p>
        </p:txBody>
      </p:sp>
      <p:sp>
        <p:nvSpPr>
          <p:cNvPr id="12" name="eval-b3">
            <a:extLst xmlns:a="http://schemas.openxmlformats.org/drawingml/2006/main">
              <a:ext uri="{FF2B5EF4-FFF2-40B4-BE49-F238E27FC236}">
                <a16:creationId xmlns:a16="http://schemas.microsoft.com/office/drawing/2014/main" id="{75DEC0E3-CE88-4F0B-ADEA-C0B546E5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2950"/>
            <a:ext cx="4762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Speech-to-block latency, persistence/reload integrity and physical-device stability.</a:t>
            </a:r>
          </a:p>
        </p:txBody>
      </p:sp>
      <p:sp>
        <p:nvSpPr>
          <p:cNvPr id="13" name="eval-t4">
            <a:extLst xmlns:a="http://schemas.openxmlformats.org/drawingml/2006/main">
              <a:ext uri="{FF2B5EF4-FFF2-40B4-BE49-F238E27FC236}">
                <a16:creationId xmlns:a16="http://schemas.microsoft.com/office/drawing/2014/main" id="{05F3151D-F52F-4C2A-AC66-D63E5943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0050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quality—later</a:t>
            </a:r>
          </a:p>
        </p:txBody>
      </p:sp>
      <p:sp>
        <p:nvSpPr>
          <p:cNvPr id="14" name="eval-b4">
            <a:extLst xmlns:a="http://schemas.openxmlformats.org/drawingml/2006/main">
              <a:ext uri="{FF2B5EF4-FFF2-40B4-BE49-F238E27FC236}">
                <a16:creationId xmlns:a16="http://schemas.microsoft.com/office/drawing/2014/main" id="{756BC694-CA83-4A91-B075-F2A0E114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52950"/>
            <a:ext cx="4762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Faithfulness, coverage, instruction compliance, hallucination rate and user acceptance.</a:t>
            </a:r>
          </a:p>
        </p:txBody>
      </p:sp>
      <p:sp>
        <p:nvSpPr>
          <p:cNvPr id="15" name="eval-baseline">
            <a:extLst xmlns:a="http://schemas.openxmlformats.org/drawingml/2006/main">
              <a:ext uri="{FF2B5EF4-FFF2-40B4-BE49-F238E27FC236}">
                <a16:creationId xmlns:a16="http://schemas.microsoft.com/office/drawing/2014/main" id="{978FC0C6-ECA2-425C-A8AD-93E47A64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Compare three modes: raw transcript  →  deterministic VoxScript  →  optional AI enhancement.</a:t>
            </a:r>
          </a:p>
        </p:txBody>
      </p:sp>
      <p:sp>
        <p:nvSpPr>
          <p:cNvPr id="16" name="evaluation-footer">
            <a:extLst xmlns:a="http://schemas.openxmlformats.org/drawingml/2006/main">
              <a:ext uri="{FF2B5EF4-FFF2-40B4-BE49-F238E27FC236}">
                <a16:creationId xmlns:a16="http://schemas.microsoft.com/office/drawing/2014/main" id="{7A4DB53C-2CF1-48FB-BD6A-3105A439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26848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erification-title">
            <a:extLst xmlns:a="http://schemas.openxmlformats.org/drawingml/2006/main">
              <a:ext uri="{FF2B5EF4-FFF2-40B4-BE49-F238E27FC236}">
                <a16:creationId xmlns:a16="http://schemas.microsoft.com/office/drawing/2014/main" id="{E36C7627-2F3D-4297-8B80-81FB5BB0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milestone must pass two independent verification layers</a:t>
            </a:r>
          </a:p>
        </p:txBody>
      </p:sp>
      <p:sp>
        <p:nvSpPr>
          <p:cNvPr id="2" name="verify-left">
            <a:extLst xmlns:a="http://schemas.openxmlformats.org/drawingml/2006/main">
              <a:ext uri="{FF2B5EF4-FFF2-40B4-BE49-F238E27FC236}">
                <a16:creationId xmlns:a16="http://schemas.microsoft.com/office/drawing/2014/main" id="{4EE9F65B-0CB6-46DA-A8B0-61AEDC9A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5334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verify-right">
            <a:extLst xmlns:a="http://schemas.openxmlformats.org/drawingml/2006/main">
              <a:ext uri="{FF2B5EF4-FFF2-40B4-BE49-F238E27FC236}">
                <a16:creationId xmlns:a16="http://schemas.microsoft.com/office/drawing/2014/main" id="{4413A2B1-BF44-463C-A283-ED6F29F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5334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verify-left-n">
            <a:extLst xmlns:a="http://schemas.openxmlformats.org/drawingml/2006/main">
              <a:ext uri="{FF2B5EF4-FFF2-40B4-BE49-F238E27FC236}">
                <a16:creationId xmlns:a16="http://schemas.microsoft.com/office/drawing/2014/main" id="{AE740C91-11E0-41E4-9B24-0964913F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PASS 1</a:t>
            </a:r>
          </a:p>
        </p:txBody>
      </p:sp>
      <p:sp>
        <p:nvSpPr>
          <p:cNvPr id="5" name="verify-left-title">
            <a:extLst xmlns:a="http://schemas.openxmlformats.org/drawingml/2006/main">
              <a:ext uri="{FF2B5EF4-FFF2-40B4-BE49-F238E27FC236}">
                <a16:creationId xmlns:a16="http://schemas.microsoft.com/office/drawing/2014/main" id="{A2086E47-B965-4CA1-90B4-391F7B96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428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Automated evidence</a:t>
            </a:r>
          </a:p>
        </p:txBody>
      </p:sp>
      <p:sp>
        <p:nvSpPr>
          <p:cNvPr id="6" name="verify-left-body">
            <a:extLst xmlns:a="http://schemas.openxmlformats.org/drawingml/2006/main">
              <a:ext uri="{FF2B5EF4-FFF2-40B4-BE49-F238E27FC236}">
                <a16:creationId xmlns:a16="http://schemas.microsoft.com/office/drawing/2014/main" id="{AC1A9AED-D411-4193-AF25-B1B4A97F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2862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Parser unit tests
• Repository and ViewModel tests
• Database migration / reload tests
• Build, lint and instrumentation checks
• Versioned command corpus</a:t>
            </a:r>
          </a:p>
        </p:txBody>
      </p:sp>
      <p:sp>
        <p:nvSpPr>
          <p:cNvPr id="7" name="verify-right-n">
            <a:extLst xmlns:a="http://schemas.openxmlformats.org/drawingml/2006/main">
              <a:ext uri="{FF2B5EF4-FFF2-40B4-BE49-F238E27FC236}">
                <a16:creationId xmlns:a16="http://schemas.microsoft.com/office/drawing/2014/main" id="{22267145-2E1F-4530-839F-95268D3C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1455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PASS 2</a:t>
            </a:r>
          </a:p>
        </p:txBody>
      </p:sp>
      <p:sp>
        <p:nvSpPr>
          <p:cNvPr id="8" name="verify-right-title">
            <a:extLst xmlns:a="http://schemas.openxmlformats.org/drawingml/2006/main">
              <a:ext uri="{FF2B5EF4-FFF2-40B4-BE49-F238E27FC236}">
                <a16:creationId xmlns:a16="http://schemas.microsoft.com/office/drawing/2014/main" id="{4714E757-2797-4BC3-9737-BDCE3072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24150"/>
            <a:ext cx="428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Physical-device evidence</a:t>
            </a:r>
          </a:p>
        </p:txBody>
      </p:sp>
      <p:sp>
        <p:nvSpPr>
          <p:cNvPr id="9" name="verify-right-body">
            <a:extLst xmlns:a="http://schemas.openxmlformats.org/drawingml/2006/main">
              <a:ext uri="{FF2B5EF4-FFF2-40B4-BE49-F238E27FC236}">
                <a16:creationId xmlns:a16="http://schemas.microsoft.com/office/drawing/2014/main" id="{3CE882A7-9C09-462C-AA9C-A5186C90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09950"/>
            <a:ext cx="42862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Permission allow / deny flow
• Quiet and noisy speech trials
• Chart and diagram rendering
• App relaunch and note recovery
• Timed end-to-end demo rehearsal</a:t>
            </a:r>
          </a:p>
        </p:txBody>
      </p:sp>
      <p:sp>
        <p:nvSpPr>
          <p:cNvPr id="10" name="verify-gate">
            <a:extLst xmlns:a="http://schemas.openxmlformats.org/drawingml/2006/main">
              <a:ext uri="{FF2B5EF4-FFF2-40B4-BE49-F238E27FC236}">
                <a16:creationId xmlns:a16="http://schemas.microsoft.com/office/drawing/2014/main" id="{4B53C02C-9F3F-4FED-9E15-A4E43E95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38825"/>
            <a:ext cx="1095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task is committed only after both relevant checks pass—or the log explicitly records why one cannot yet run.</a:t>
            </a:r>
          </a:p>
        </p:txBody>
      </p:sp>
      <p:sp>
        <p:nvSpPr>
          <p:cNvPr id="11" name="verification-footer">
            <a:extLst xmlns:a="http://schemas.openxmlformats.org/drawingml/2006/main">
              <a:ext uri="{FF2B5EF4-FFF2-40B4-BE49-F238E27FC236}">
                <a16:creationId xmlns:a16="http://schemas.microsoft.com/office/drawing/2014/main" id="{38A3F548-6A7F-4E45-9360-EC82445E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6069038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isks-title">
            <a:extLst xmlns:a="http://schemas.openxmlformats.org/drawingml/2006/main">
              <a:ext uri="{FF2B5EF4-FFF2-40B4-BE49-F238E27FC236}">
                <a16:creationId xmlns:a16="http://schemas.microsoft.com/office/drawing/2014/main" id="{FD4446E8-C193-44E4-9745-78CD2471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plan contains the hardest risks before they threaten the demo</a:t>
            </a:r>
          </a:p>
        </p:txBody>
      </p:sp>
      <p:sp>
        <p:nvSpPr>
          <p:cNvPr id="2" name="risks-subtitle">
            <a:extLst xmlns:a="http://schemas.openxmlformats.org/drawingml/2006/main">
              <a:ext uri="{FF2B5EF4-FFF2-40B4-BE49-F238E27FC236}">
                <a16:creationId xmlns:a16="http://schemas.microsoft.com/office/drawing/2014/main" id="{41D94205-2064-41F3-A95B-B46EF0C0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The offline deterministic path remains the primary demonstration even if connectivity or an AI service fails.</a:t>
            </a:r>
          </a:p>
        </p:txBody>
      </p:sp>
      <p:sp>
        <p:nvSpPr>
          <p:cNvPr id="3" name="risk-a">
            <a:extLst xmlns:a="http://schemas.openxmlformats.org/drawingml/2006/main">
              <a:ext uri="{FF2B5EF4-FFF2-40B4-BE49-F238E27FC236}">
                <a16:creationId xmlns:a16="http://schemas.microsoft.com/office/drawing/2014/main" id="{9A117178-C857-460D-8EF1-FBEE2A97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62350" cy="36195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risk-b">
            <a:extLst xmlns:a="http://schemas.openxmlformats.org/drawingml/2006/main">
              <a:ext uri="{FF2B5EF4-FFF2-40B4-BE49-F238E27FC236}">
                <a16:creationId xmlns:a16="http://schemas.microsoft.com/office/drawing/2014/main" id="{DC67ACD4-9B82-4061-8D41-00B87DCB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6195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isk-c">
            <a:extLst xmlns:a="http://schemas.openxmlformats.org/drawingml/2006/main">
              <a:ext uri="{FF2B5EF4-FFF2-40B4-BE49-F238E27FC236}">
                <a16:creationId xmlns:a16="http://schemas.microsoft.com/office/drawing/2014/main" id="{73375D87-9440-4841-893B-C58E5086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562350" cy="36195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isk-a-title">
            <a:extLst xmlns:a="http://schemas.openxmlformats.org/drawingml/2006/main">
              <a:ext uri="{FF2B5EF4-FFF2-40B4-BE49-F238E27FC236}">
                <a16:creationId xmlns:a16="http://schemas.microsoft.com/office/drawing/2014/main" id="{327EBC6D-3B34-4AC5-B69F-A8C1E3A5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2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Recognition varies</a:t>
            </a:r>
          </a:p>
        </p:txBody>
      </p:sp>
      <p:sp>
        <p:nvSpPr>
          <p:cNvPr id="7" name="risk-a-body">
            <a:extLst xmlns:a="http://schemas.openxmlformats.org/drawingml/2006/main">
              <a:ext uri="{FF2B5EF4-FFF2-40B4-BE49-F238E27FC236}">
                <a16:creationId xmlns:a16="http://schemas.microsoft.com/office/drawing/2014/main" id="{CB23EEAD-AF3F-434B-852D-569620BF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38450"/>
            <a:ext cx="285750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Mitigate with bounded phrases, visible transcript correction, aliases, confirmation for destructive commands and a typed fallback.</a:t>
            </a:r>
          </a:p>
        </p:txBody>
      </p:sp>
      <p:sp>
        <p:nvSpPr>
          <p:cNvPr id="8" name="risk-b-title">
            <a:extLst xmlns:a="http://schemas.openxmlformats.org/drawingml/2006/main">
              <a:ext uri="{FF2B5EF4-FFF2-40B4-BE49-F238E27FC236}">
                <a16:creationId xmlns:a16="http://schemas.microsoft.com/office/drawing/2014/main" id="{87F2369A-B769-4119-AE82-1D32BC57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2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Scope can explode</a:t>
            </a:r>
          </a:p>
        </p:txBody>
      </p:sp>
      <p:sp>
        <p:nvSpPr>
          <p:cNvPr id="9" name="risk-b-body">
            <a:extLst xmlns:a="http://schemas.openxmlformats.org/drawingml/2006/main">
              <a:ext uri="{FF2B5EF4-FFF2-40B4-BE49-F238E27FC236}">
                <a16:creationId xmlns:a16="http://schemas.microsoft.com/office/drawing/2014/main" id="{0C3DEA49-19A0-4452-819D-DF285820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38450"/>
            <a:ext cx="285750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Limit diagrams to flowcharts and relationship maps; limit charts to pie, bar and progress in the first release.</a:t>
            </a:r>
          </a:p>
        </p:txBody>
      </p:sp>
      <p:sp>
        <p:nvSpPr>
          <p:cNvPr id="10" name="risk-c-title">
            <a:extLst xmlns:a="http://schemas.openxmlformats.org/drawingml/2006/main">
              <a:ext uri="{FF2B5EF4-FFF2-40B4-BE49-F238E27FC236}">
                <a16:creationId xmlns:a16="http://schemas.microsoft.com/office/drawing/2014/main" id="{A58ABE4C-96A8-48E5-9F33-7506CA7D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2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can hallucinate</a:t>
            </a:r>
          </a:p>
        </p:txBody>
      </p:sp>
      <p:sp>
        <p:nvSpPr>
          <p:cNvPr id="11" name="risk-c-body">
            <a:extLst xmlns:a="http://schemas.openxmlformats.org/drawingml/2006/main">
              <a:ext uri="{FF2B5EF4-FFF2-40B4-BE49-F238E27FC236}">
                <a16:creationId xmlns:a16="http://schemas.microsoft.com/office/drawing/2014/main" id="{4295FE9C-2CDB-4C5E-AB8B-D5BFBDE0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38450"/>
            <a:ext cx="285750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AI opt-in, preserve the original transcript, show a diff/preview, never silently overwrite, and store no key in source control.</a:t>
            </a:r>
          </a:p>
        </p:txBody>
      </p:sp>
      <p:sp>
        <p:nvSpPr>
          <p:cNvPr id="12" name="risk-privacy">
            <a:extLst xmlns:a="http://schemas.openxmlformats.org/drawingml/2006/main">
              <a:ext uri="{FF2B5EF4-FFF2-40B4-BE49-F238E27FC236}">
                <a16:creationId xmlns:a16="http://schemas.microsoft.com/office/drawing/2014/main" id="{BAA5CA9B-B06F-4D56-A9FB-4ED2B7E9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38825"/>
            <a:ext cx="1095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Privacy baseline: local notes, microphone used only during a visible session, and cloud processing only after explicit user action.</a:t>
            </a:r>
          </a:p>
        </p:txBody>
      </p:sp>
      <p:sp>
        <p:nvSpPr>
          <p:cNvPr id="13" name="risks-footer">
            <a:extLst xmlns:a="http://schemas.openxmlformats.org/drawingml/2006/main">
              <a:ext uri="{FF2B5EF4-FFF2-40B4-BE49-F238E27FC236}">
                <a16:creationId xmlns:a16="http://schemas.microsoft.com/office/drawing/2014/main" id="{FA81445E-5AE4-4D09-8441-6AFB0AE9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454110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3289C8E5-7EAF-4B97-BE38-C7BB191F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Eight weeks deliver a demonstrable artifact at every review gate</a:t>
            </a:r>
          </a:p>
        </p:txBody>
      </p:sp>
      <p:sp>
        <p:nvSpPr>
          <p:cNvPr id="2" name="roadmap-subtitle">
            <a:extLst xmlns:a="http://schemas.openxmlformats.org/drawingml/2006/main">
              <a:ext uri="{FF2B5EF4-FFF2-40B4-BE49-F238E27FC236}">
                <a16:creationId xmlns:a16="http://schemas.microsoft.com/office/drawing/2014/main" id="{7DA1ACB4-3399-4FF9-9477-361BEC85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Report writing, citations, screenshots, test evidence and viva notes advance alongside implementation.</a:t>
            </a:r>
          </a:p>
        </p:txBody>
      </p:sp>
      <p:sp>
        <p:nvSpPr>
          <p:cNvPr id="3" name="week-0">
            <a:extLst xmlns:a="http://schemas.openxmlformats.org/drawingml/2006/main">
              <a:ext uri="{FF2B5EF4-FFF2-40B4-BE49-F238E27FC236}">
                <a16:creationId xmlns:a16="http://schemas.microsoft.com/office/drawing/2014/main" id="{7B6D45BA-36C6-4934-AFC7-7BBA3B98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14287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week-label-0">
            <a:extLst xmlns:a="http://schemas.openxmlformats.org/drawingml/2006/main">
              <a:ext uri="{FF2B5EF4-FFF2-40B4-BE49-F238E27FC236}">
                <a16:creationId xmlns:a16="http://schemas.microsoft.com/office/drawing/2014/main" id="{76CC62A4-B6F2-43ED-B6F3-0EFD966F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W1</a:t>
            </a:r>
          </a:p>
        </p:txBody>
      </p:sp>
      <p:sp>
        <p:nvSpPr>
          <p:cNvPr id="5" name="week-1">
            <a:extLst xmlns:a="http://schemas.openxmlformats.org/drawingml/2006/main">
              <a:ext uri="{FF2B5EF4-FFF2-40B4-BE49-F238E27FC236}">
                <a16:creationId xmlns:a16="http://schemas.microsoft.com/office/drawing/2014/main" id="{C7C7BF5A-F5C2-4429-890D-847AF583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695450"/>
            <a:ext cx="14287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week-label-1">
            <a:extLst xmlns:a="http://schemas.openxmlformats.org/drawingml/2006/main">
              <a:ext uri="{FF2B5EF4-FFF2-40B4-BE49-F238E27FC236}">
                <a16:creationId xmlns:a16="http://schemas.microsoft.com/office/drawing/2014/main" id="{889692F7-ADE2-4B08-AE00-661252B1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0975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W2</a:t>
            </a:r>
          </a:p>
        </p:txBody>
      </p:sp>
      <p:sp>
        <p:nvSpPr>
          <p:cNvPr id="7" name="week-2">
            <a:extLst xmlns:a="http://schemas.openxmlformats.org/drawingml/2006/main">
              <a:ext uri="{FF2B5EF4-FFF2-40B4-BE49-F238E27FC236}">
                <a16:creationId xmlns:a16="http://schemas.microsoft.com/office/drawing/2014/main" id="{D4B1F396-B2DB-4D95-9017-3FE6CFB9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695450"/>
            <a:ext cx="14287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week-label-2">
            <a:extLst xmlns:a="http://schemas.openxmlformats.org/drawingml/2006/main">
              <a:ext uri="{FF2B5EF4-FFF2-40B4-BE49-F238E27FC236}">
                <a16:creationId xmlns:a16="http://schemas.microsoft.com/office/drawing/2014/main" id="{C6F8E912-E7F6-4238-BB00-69340BED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W3</a:t>
            </a:r>
          </a:p>
        </p:txBody>
      </p:sp>
      <p:sp>
        <p:nvSpPr>
          <p:cNvPr id="9" name="week-3">
            <a:extLst xmlns:a="http://schemas.openxmlformats.org/drawingml/2006/main">
              <a:ext uri="{FF2B5EF4-FFF2-40B4-BE49-F238E27FC236}">
                <a16:creationId xmlns:a16="http://schemas.microsoft.com/office/drawing/2014/main" id="{43E5CEC7-C2C9-4164-A567-31F36EDF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695450"/>
            <a:ext cx="14287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week-label-3">
            <a:extLst xmlns:a="http://schemas.openxmlformats.org/drawingml/2006/main">
              <a:ext uri="{FF2B5EF4-FFF2-40B4-BE49-F238E27FC236}">
                <a16:creationId xmlns:a16="http://schemas.microsoft.com/office/drawing/2014/main" id="{BE4E9DC7-EE98-4554-91C5-2C1B18FF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0975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W4</a:t>
            </a:r>
          </a:p>
        </p:txBody>
      </p:sp>
      <p:sp>
        <p:nvSpPr>
          <p:cNvPr id="11" name="week-4">
            <a:extLst xmlns:a="http://schemas.openxmlformats.org/drawingml/2006/main">
              <a:ext uri="{FF2B5EF4-FFF2-40B4-BE49-F238E27FC236}">
                <a16:creationId xmlns:a16="http://schemas.microsoft.com/office/drawing/2014/main" id="{F22AE216-A682-4C96-8FEE-486D0EB1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95450"/>
            <a:ext cx="14287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week-label-4">
            <a:extLst xmlns:a="http://schemas.openxmlformats.org/drawingml/2006/main">
              <a:ext uri="{FF2B5EF4-FFF2-40B4-BE49-F238E27FC236}">
                <a16:creationId xmlns:a16="http://schemas.microsoft.com/office/drawing/2014/main" id="{5CEDB224-4F9E-426D-BDA7-6A1EB001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W5</a:t>
            </a:r>
          </a:p>
        </p:txBody>
      </p:sp>
      <p:sp>
        <p:nvSpPr>
          <p:cNvPr id="13" name="week-5">
            <a:extLst xmlns:a="http://schemas.openxmlformats.org/drawingml/2006/main">
              <a:ext uri="{FF2B5EF4-FFF2-40B4-BE49-F238E27FC236}">
                <a16:creationId xmlns:a16="http://schemas.microsoft.com/office/drawing/2014/main" id="{161E57C6-EBF2-4277-8505-D7986F6A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695450"/>
            <a:ext cx="14287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week-label-5">
            <a:extLst xmlns:a="http://schemas.openxmlformats.org/drawingml/2006/main">
              <a:ext uri="{FF2B5EF4-FFF2-40B4-BE49-F238E27FC236}">
                <a16:creationId xmlns:a16="http://schemas.microsoft.com/office/drawing/2014/main" id="{4C05E7C8-6BF6-4565-A0E3-DF61B618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W6</a:t>
            </a:r>
          </a:p>
        </p:txBody>
      </p:sp>
      <p:sp>
        <p:nvSpPr>
          <p:cNvPr id="15" name="week-6">
            <a:extLst xmlns:a="http://schemas.openxmlformats.org/drawingml/2006/main">
              <a:ext uri="{FF2B5EF4-FFF2-40B4-BE49-F238E27FC236}">
                <a16:creationId xmlns:a16="http://schemas.microsoft.com/office/drawing/2014/main" id="{E98B4035-CAF2-4908-9A0D-479AC7EA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695450"/>
            <a:ext cx="14287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week-label-6">
            <a:extLst xmlns:a="http://schemas.openxmlformats.org/drawingml/2006/main">
              <a:ext uri="{FF2B5EF4-FFF2-40B4-BE49-F238E27FC236}">
                <a16:creationId xmlns:a16="http://schemas.microsoft.com/office/drawing/2014/main" id="{85EE9EFA-2917-4143-9118-C4A14DAE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W7</a:t>
            </a:r>
          </a:p>
        </p:txBody>
      </p:sp>
      <p:sp>
        <p:nvSpPr>
          <p:cNvPr id="17" name="week-7">
            <a:extLst xmlns:a="http://schemas.openxmlformats.org/drawingml/2006/main">
              <a:ext uri="{FF2B5EF4-FFF2-40B4-BE49-F238E27FC236}">
                <a16:creationId xmlns:a16="http://schemas.microsoft.com/office/drawing/2014/main" id="{81C48AE9-5E9F-4881-AACE-AC32F49B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695450"/>
            <a:ext cx="14287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week-label-7">
            <a:extLst xmlns:a="http://schemas.openxmlformats.org/drawingml/2006/main">
              <a:ext uri="{FF2B5EF4-FFF2-40B4-BE49-F238E27FC236}">
                <a16:creationId xmlns:a16="http://schemas.microsoft.com/office/drawing/2014/main" id="{3D61755C-9558-4BA8-9FDC-79CDB82C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80975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W8</a:t>
            </a:r>
          </a:p>
        </p:txBody>
      </p:sp>
      <p:sp>
        <p:nvSpPr>
          <p:cNvPr id="19" name="roadbar-0">
            <a:extLst xmlns:a="http://schemas.openxmlformats.org/drawingml/2006/main">
              <a:ext uri="{FF2B5EF4-FFF2-40B4-BE49-F238E27FC236}">
                <a16:creationId xmlns:a16="http://schemas.microsoft.com/office/drawing/2014/main" id="{B0D20377-A8B1-4810-9C83-DF900B95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8600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72D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roadbar-label-0">
            <a:extLst xmlns:a="http://schemas.openxmlformats.org/drawingml/2006/main">
              <a:ext uri="{FF2B5EF4-FFF2-40B4-BE49-F238E27FC236}">
                <a16:creationId xmlns:a16="http://schemas.microsoft.com/office/drawing/2014/main" id="{3B8EE58C-1D28-4A92-B00F-54289A7D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71725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86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Scope • PPT • docs</a:t>
            </a:r>
          </a:p>
        </p:txBody>
      </p:sp>
      <p:sp>
        <p:nvSpPr>
          <p:cNvPr id="21" name="roadbar-1">
            <a:extLst xmlns:a="http://schemas.openxmlformats.org/drawingml/2006/main">
              <a:ext uri="{FF2B5EF4-FFF2-40B4-BE49-F238E27FC236}">
                <a16:creationId xmlns:a16="http://schemas.microsoft.com/office/drawing/2014/main" id="{65337701-DDD9-4B59-B20F-CA32F283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57500"/>
            <a:ext cx="4095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roadbar-label-1">
            <a:extLst xmlns:a="http://schemas.openxmlformats.org/drawingml/2006/main">
              <a:ext uri="{FF2B5EF4-FFF2-40B4-BE49-F238E27FC236}">
                <a16:creationId xmlns:a16="http://schemas.microsoft.com/office/drawing/2014/main" id="{A51D06AE-6E4C-402A-A967-E8AECD33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43225"/>
            <a:ext cx="382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86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 model • Room • editor</a:t>
            </a:r>
          </a:p>
        </p:txBody>
      </p:sp>
      <p:sp>
        <p:nvSpPr>
          <p:cNvPr id="23" name="roadbar-2">
            <a:extLst xmlns:a="http://schemas.openxmlformats.org/drawingml/2006/main">
              <a:ext uri="{FF2B5EF4-FFF2-40B4-BE49-F238E27FC236}">
                <a16:creationId xmlns:a16="http://schemas.microsoft.com/office/drawing/2014/main" id="{4CB7CCBB-9AF5-42F7-B523-569F0E7C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2900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72D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roadbar-label-2">
            <a:extLst xmlns:a="http://schemas.openxmlformats.org/drawingml/2006/main">
              <a:ext uri="{FF2B5EF4-FFF2-40B4-BE49-F238E27FC236}">
                <a16:creationId xmlns:a16="http://schemas.microsoft.com/office/drawing/2014/main" id="{46749B2C-A565-4081-BE2D-98B13E24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14725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86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Speech gateway • permission</a:t>
            </a:r>
          </a:p>
        </p:txBody>
      </p:sp>
      <p:sp>
        <p:nvSpPr>
          <p:cNvPr id="25" name="roadbar-3">
            <a:extLst xmlns:a="http://schemas.openxmlformats.org/drawingml/2006/main">
              <a:ext uri="{FF2B5EF4-FFF2-40B4-BE49-F238E27FC236}">
                <a16:creationId xmlns:a16="http://schemas.microsoft.com/office/drawing/2014/main" id="{8B182B02-F5F9-4DF1-99D7-85C6BDB5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000500"/>
            <a:ext cx="4095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roadbar-label-3">
            <a:extLst xmlns:a="http://schemas.openxmlformats.org/drawingml/2006/main">
              <a:ext uri="{FF2B5EF4-FFF2-40B4-BE49-F238E27FC236}">
                <a16:creationId xmlns:a16="http://schemas.microsoft.com/office/drawing/2014/main" id="{13CFCAA9-830D-4389-989E-6377BCC7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86225"/>
            <a:ext cx="382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86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VoxScript • visual blocks</a:t>
            </a:r>
          </a:p>
        </p:txBody>
      </p:sp>
      <p:sp>
        <p:nvSpPr>
          <p:cNvPr id="27" name="roadbar-4">
            <a:extLst xmlns:a="http://schemas.openxmlformats.org/drawingml/2006/main">
              <a:ext uri="{FF2B5EF4-FFF2-40B4-BE49-F238E27FC236}">
                <a16:creationId xmlns:a16="http://schemas.microsoft.com/office/drawing/2014/main" id="{2E990E4F-E86E-470A-85F3-F2CC357F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57200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72D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roadbar-label-4">
            <a:extLst xmlns:a="http://schemas.openxmlformats.org/drawingml/2006/main">
              <a:ext uri="{FF2B5EF4-FFF2-40B4-BE49-F238E27FC236}">
                <a16:creationId xmlns:a16="http://schemas.microsoft.com/office/drawing/2014/main" id="{E72583AE-DB86-4C7C-8216-94E29841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57725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86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provider • customization</a:t>
            </a:r>
          </a:p>
        </p:txBody>
      </p:sp>
      <p:sp>
        <p:nvSpPr>
          <p:cNvPr id="29" name="roadbar-5">
            <a:extLst xmlns:a="http://schemas.openxmlformats.org/drawingml/2006/main">
              <a:ext uri="{FF2B5EF4-FFF2-40B4-BE49-F238E27FC236}">
                <a16:creationId xmlns:a16="http://schemas.microsoft.com/office/drawing/2014/main" id="{83C37A4A-1015-42E8-A4E4-E3F22783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14350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roadbar-label-5">
            <a:extLst xmlns:a="http://schemas.openxmlformats.org/drawingml/2006/main">
              <a:ext uri="{FF2B5EF4-FFF2-40B4-BE49-F238E27FC236}">
                <a16:creationId xmlns:a16="http://schemas.microsoft.com/office/drawing/2014/main" id="{A82BAC3C-B51B-4745-97FD-971EBB10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29225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86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Device QA • report • viva</a:t>
            </a:r>
          </a:p>
        </p:txBody>
      </p:sp>
      <p:sp>
        <p:nvSpPr>
          <p:cNvPr id="31" name="roadmap-footer">
            <a:extLst xmlns:a="http://schemas.openxmlformats.org/drawingml/2006/main">
              <a:ext uri="{FF2B5EF4-FFF2-40B4-BE49-F238E27FC236}">
                <a16:creationId xmlns:a16="http://schemas.microsoft.com/office/drawing/2014/main" id="{C89BC924-D0FF-43D1-9E1A-96AC79F3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5365299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5B7FAA9-0EA5-43AA-8A37-F0F5D8A7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F5E8D91-6D4B-4967-A489-5DAB83BA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final submission is one synchronized evidence package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CA94A88-5850-42E5-8C62-60485F0C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Android product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Installable Compose app, local note database, speech sessions, visual blocks and customization.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8DAB518-0F84-466C-BF1B-CF40BA4F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Research evidence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Versioned speech/command corpus, metrics, error analysis, limitations and AI comparison.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D7732E7-EDF9-4FB8-B37C-092B02E5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Academic package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Hardbound report draft, review decks, citations, diagrams, screenshots and viva preparation.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D6894F7-3A67-4216-A601-D49787FD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Engineering trail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Project guide, append-only change log, dual-verification evidence and focused Git commits.</a:t>
            </a:r>
          </a:p>
        </p:txBody>
      </p:sp>
    </p:spTree>
    <p:extLst>
      <p:ext uri="{BB962C8B-B14F-4D97-AF65-F5344CB8AC3E}">
        <p14:creationId xmlns:p14="http://schemas.microsoft.com/office/powerpoint/2010/main" val="98267050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D934A637-DF73-40D6-ADCD-C9EAECDF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proposal is grounded in official Android documentation</a:t>
            </a:r>
          </a:p>
        </p:txBody>
      </p:sp>
      <p:sp>
        <p:nvSpPr>
          <p:cNvPr id="2" name="sources-subtitle">
            <a:extLst xmlns:a="http://schemas.openxmlformats.org/drawingml/2006/main">
              <a:ext uri="{FF2B5EF4-FFF2-40B4-BE49-F238E27FC236}">
                <a16:creationId xmlns:a16="http://schemas.microsoft.com/office/drawing/2014/main" id="{F6E56F16-7743-406E-875C-ECA2BF4D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All open-source libraries, AI services and borrowed methods will be acknowledged in the report.</a:t>
            </a:r>
          </a:p>
        </p:txBody>
      </p:sp>
      <p:sp>
        <p:nvSpPr>
          <p:cNvPr id="3" name="source-index-0">
            <a:extLst xmlns:a="http://schemas.openxmlformats.org/drawingml/2006/main">
              <a:ext uri="{FF2B5EF4-FFF2-40B4-BE49-F238E27FC236}">
                <a16:creationId xmlns:a16="http://schemas.microsoft.com/office/drawing/2014/main" id="{72F9D504-36DD-4A1A-926F-47E01FBF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523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source-name-0">
            <a:extLst xmlns:a="http://schemas.openxmlformats.org/drawingml/2006/main">
              <a:ext uri="{FF2B5EF4-FFF2-40B4-BE49-F238E27FC236}">
                <a16:creationId xmlns:a16="http://schemas.microsoft.com/office/drawing/2014/main" id="{8FB163C3-250A-41EB-A122-025431BB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Android SpeechRecognizer</a:t>
            </a:r>
          </a:p>
        </p:txBody>
      </p:sp>
      <p:sp>
        <p:nvSpPr>
          <p:cNvPr id="5" name="source-url-0">
            <a:extLst xmlns:a="http://schemas.openxmlformats.org/drawingml/2006/main">
              <a:ext uri="{FF2B5EF4-FFF2-40B4-BE49-F238E27FC236}">
                <a16:creationId xmlns:a16="http://schemas.microsoft.com/office/drawing/2014/main" id="{434E0ABD-C786-4922-B1B4-367F1BDE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24075"/>
            <a:ext cx="1000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developer.android.com/reference/android/speech/SpeechRecognizer</a:t>
            </a:r>
          </a:p>
        </p:txBody>
      </p:sp>
      <p:cxnSp>
        <p:nvCxnSpPr>
          <p:cNvPr id="24" name="source-rule-0"/>
          <p:cNvCxnSpPr/>
          <p:nvPr/>
        </p:nvCxnSpPr>
        <p:spPr>
          <a:xfrm xmlns:a="http://schemas.openxmlformats.org/drawingml/2006/main">
            <a:off x="390525" y="2495550"/>
            <a:ext cx="11144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source-index-1">
            <a:extLst xmlns:a="http://schemas.openxmlformats.org/drawingml/2006/main">
              <a:ext uri="{FF2B5EF4-FFF2-40B4-BE49-F238E27FC236}">
                <a16:creationId xmlns:a16="http://schemas.microsoft.com/office/drawing/2014/main" id="{A5E785E1-057B-405D-BD94-2AF376F4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62250"/>
            <a:ext cx="523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source-name-1">
            <a:extLst xmlns:a="http://schemas.openxmlformats.org/drawingml/2006/main">
              <a:ext uri="{FF2B5EF4-FFF2-40B4-BE49-F238E27FC236}">
                <a16:creationId xmlns:a16="http://schemas.microsoft.com/office/drawing/2014/main" id="{4B86B475-AB1E-46DF-BFC6-29D8CF17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Android RecognizerIntent</a:t>
            </a:r>
          </a:p>
        </p:txBody>
      </p:sp>
      <p:sp>
        <p:nvSpPr>
          <p:cNvPr id="9" name="source-url-1">
            <a:extLst xmlns:a="http://schemas.openxmlformats.org/drawingml/2006/main">
              <a:ext uri="{FF2B5EF4-FFF2-40B4-BE49-F238E27FC236}">
                <a16:creationId xmlns:a16="http://schemas.microsoft.com/office/drawing/2014/main" id="{80DA226A-5BC8-4B8C-984C-FC5AE6C2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1000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developer.android.com/reference/android/speech/RecognizerIntent</a:t>
            </a:r>
          </a:p>
        </p:txBody>
      </p:sp>
      <p:cxnSp>
        <p:nvCxnSpPr>
          <p:cNvPr id="28" name="source-rule-1"/>
          <p:cNvCxnSpPr/>
          <p:nvPr/>
        </p:nvCxnSpPr>
        <p:spPr>
          <a:xfrm xmlns:a="http://schemas.openxmlformats.org/drawingml/2006/main">
            <a:off x="390525" y="3505200"/>
            <a:ext cx="11144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source-index-2">
            <a:extLst xmlns:a="http://schemas.openxmlformats.org/drawingml/2006/main">
              <a:ext uri="{FF2B5EF4-FFF2-40B4-BE49-F238E27FC236}">
                <a16:creationId xmlns:a16="http://schemas.microsoft.com/office/drawing/2014/main" id="{6E77DB62-3CFD-45C8-81BA-C7939A33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71900"/>
            <a:ext cx="523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source-name-2">
            <a:extLst xmlns:a="http://schemas.openxmlformats.org/drawingml/2006/main">
              <a:ext uri="{FF2B5EF4-FFF2-40B4-BE49-F238E27FC236}">
                <a16:creationId xmlns:a16="http://schemas.microsoft.com/office/drawing/2014/main" id="{07894F4A-ABE7-4ED8-9DA9-9172E04E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 runtime permissions</a:t>
            </a:r>
          </a:p>
        </p:txBody>
      </p:sp>
      <p:sp>
        <p:nvSpPr>
          <p:cNvPr id="13" name="source-url-2">
            <a:extLst xmlns:a="http://schemas.openxmlformats.org/drawingml/2006/main">
              <a:ext uri="{FF2B5EF4-FFF2-40B4-BE49-F238E27FC236}">
                <a16:creationId xmlns:a16="http://schemas.microsoft.com/office/drawing/2014/main" id="{ADB80438-5B9A-4BC0-A184-EEFC32D7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43375"/>
            <a:ext cx="1000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developer.android.com/training/permissions/requesting</a:t>
            </a:r>
          </a:p>
        </p:txBody>
      </p:sp>
      <p:cxnSp>
        <p:nvCxnSpPr>
          <p:cNvPr id="32" name="source-rule-2"/>
          <p:cNvCxnSpPr/>
          <p:nvPr/>
        </p:nvCxnSpPr>
        <p:spPr>
          <a:xfrm xmlns:a="http://schemas.openxmlformats.org/drawingml/2006/main">
            <a:off x="390525" y="4514850"/>
            <a:ext cx="11144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source-index-3">
            <a:extLst xmlns:a="http://schemas.openxmlformats.org/drawingml/2006/main">
              <a:ext uri="{FF2B5EF4-FFF2-40B4-BE49-F238E27FC236}">
                <a16:creationId xmlns:a16="http://schemas.microsoft.com/office/drawing/2014/main" id="{D6702B97-188C-434A-85FC-A0477412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81550"/>
            <a:ext cx="523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source-name-3">
            <a:extLst xmlns:a="http://schemas.openxmlformats.org/drawingml/2006/main">
              <a:ext uri="{FF2B5EF4-FFF2-40B4-BE49-F238E27FC236}">
                <a16:creationId xmlns:a16="http://schemas.microsoft.com/office/drawing/2014/main" id="{933B686F-1C37-4115-8CDE-7D58B475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Recommendations for Android architecture</a:t>
            </a:r>
          </a:p>
        </p:txBody>
      </p:sp>
      <p:sp>
        <p:nvSpPr>
          <p:cNvPr id="17" name="source-url-3">
            <a:extLst xmlns:a="http://schemas.openxmlformats.org/drawingml/2006/main">
              <a:ext uri="{FF2B5EF4-FFF2-40B4-BE49-F238E27FC236}">
                <a16:creationId xmlns:a16="http://schemas.microsoft.com/office/drawing/2014/main" id="{4CBF8842-45B2-407A-BFD9-65A53201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53025"/>
            <a:ext cx="1000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developer.android.com/topic/architecture/recommendations</a:t>
            </a:r>
          </a:p>
        </p:txBody>
      </p:sp>
      <p:sp>
        <p:nvSpPr>
          <p:cNvPr id="18" name="sources-footer">
            <a:extLst xmlns:a="http://schemas.openxmlformats.org/drawingml/2006/main">
              <a:ext uri="{FF2B5EF4-FFF2-40B4-BE49-F238E27FC236}">
                <a16:creationId xmlns:a16="http://schemas.microsoft.com/office/drawing/2014/main" id="{7D391897-E8C4-4DAE-BB22-EABA2028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074083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D65D675-FAF7-4C08-879E-790BA666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Approve the scope.
Build the offline core.
Prove it on device.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D1AF5DE-0531-4C49-BEC0-C04267B9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Block model + local persistence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Native speech + VoxScript parser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First verified end-to-end note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3469986-145E-4FF8-AF11-FA8B9DC9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GATE</a:t>
            </a:r>
          </a:p>
        </p:txBody>
      </p:sp>
    </p:spTree>
    <p:extLst>
      <p:ext uri="{BB962C8B-B14F-4D97-AF65-F5344CB8AC3E}">
        <p14:creationId xmlns:p14="http://schemas.microsoft.com/office/powerpoint/2010/main" val="1677882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2026-07-19T07:15:27.6940000Z</dcterms:created>
  <dcterms:modified xsi:type="dcterms:W3CDTF">2026-07-19T07:15:27.6940000Z</dcterms:modified>
</coreProperties>
</file>